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84239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9478196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66467163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5699942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607173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805378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451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0357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6415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013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863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53600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2314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505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2809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312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6233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839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960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346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34247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1607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38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3845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531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237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654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370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4637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5319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C33B27-B3CD-58C4-61AA-4FE42ACABE5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919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1481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633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611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7026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1722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217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94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1095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5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7703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42583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6321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9064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910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ARK_MASTER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LIGHT_MASTER">
    <p:bg>
      <p:bgPr shadeToTitle="0">
        <a:solidFill>
          <a:srgbClr val="F4F7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585131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1848924244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pic>
        <p:nvPicPr>
          <p:cNvPr id="938220102" name="Image 0" descr="lungai_log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500116" y="2331720"/>
            <a:ext cx="1188720" cy="1188720"/>
          </a:xfrm>
          <a:prstGeom prst="rect">
            <a:avLst/>
          </a:prstGeom>
        </p:spPr>
      </p:pic>
      <p:sp>
        <p:nvSpPr>
          <p:cNvPr id="328494555" name="Text 2"/>
          <p:cNvSpPr txBox="1"/>
          <p:nvPr/>
        </p:nvSpPr>
        <p:spPr bwMode="auto">
          <a:xfrm>
            <a:off x="0" y="37033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LungAI</a:t>
            </a:r>
            <a:endParaRPr lang="en-US" sz="6000"/>
          </a:p>
        </p:txBody>
      </p:sp>
      <p:sp>
        <p:nvSpPr>
          <p:cNvPr id="2055984687" name="Text 3"/>
          <p:cNvSpPr txBox="1"/>
          <p:nvPr/>
        </p:nvSpPr>
        <p:spPr bwMode="auto">
          <a:xfrm>
            <a:off x="1522476" y="4709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Interactive 3D Explainability for Chest X-Ray Diagnosis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76086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807728627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sp>
        <p:nvSpPr>
          <p:cNvPr id="961480623" name="Text 2"/>
          <p:cNvSpPr txBox="1"/>
          <p:nvPr/>
        </p:nvSpPr>
        <p:spPr bwMode="auto"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00" b="1" spc="2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PRESENTED BY</a:t>
            </a:r>
            <a:endParaRPr lang="en-US" sz="1200"/>
          </a:p>
        </p:txBody>
      </p:sp>
      <p:sp>
        <p:nvSpPr>
          <p:cNvPr id="420077993" name="Text 3"/>
          <p:cNvSpPr txBox="1"/>
          <p:nvPr/>
        </p:nvSpPr>
        <p:spPr bwMode="auto"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Our Team</a:t>
            </a:r>
            <a:endParaRPr lang="en-US" sz="3000"/>
          </a:p>
        </p:txBody>
      </p:sp>
      <p:sp>
        <p:nvSpPr>
          <p:cNvPr id="387987065" name="Text 4"/>
          <p:cNvSpPr txBox="1"/>
          <p:nvPr/>
        </p:nvSpPr>
        <p:spPr bwMode="auto"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LungAI</a:t>
            </a:r>
            <a:endParaRPr lang="en-US" sz="1000"/>
          </a:p>
        </p:txBody>
      </p:sp>
      <p:sp>
        <p:nvSpPr>
          <p:cNvPr id="1428279519" name="Text 5"/>
          <p:cNvSpPr txBox="1"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  <p:sp>
        <p:nvSpPr>
          <p:cNvPr id="468560366" name="Shape 6"/>
          <p:cNvSpPr/>
          <p:nvPr/>
        </p:nvSpPr>
        <p:spPr bwMode="auto">
          <a:xfrm>
            <a:off x="882396" y="2148840"/>
            <a:ext cx="4937760" cy="2834640"/>
          </a:xfrm>
          <a:prstGeom prst="roundRect">
            <a:avLst>
              <a:gd name="adj" fmla="val 3871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814625793" name="Shape 7"/>
          <p:cNvSpPr/>
          <p:nvPr/>
        </p:nvSpPr>
        <p:spPr bwMode="auto">
          <a:xfrm>
            <a:off x="2894076" y="2560320"/>
            <a:ext cx="914400" cy="914400"/>
          </a:xfrm>
          <a:prstGeom prst="ellipse">
            <a:avLst/>
          </a:prstGeom>
          <a:solidFill>
            <a:srgbClr val="0F1D3A"/>
          </a:solidFill>
          <a:ln/>
        </p:spPr>
      </p:sp>
      <p:sp>
        <p:nvSpPr>
          <p:cNvPr id="1171897859" name="Text 8"/>
          <p:cNvSpPr txBox="1"/>
          <p:nvPr/>
        </p:nvSpPr>
        <p:spPr bwMode="auto">
          <a:xfrm>
            <a:off x="1156716" y="3657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T. Ganesh Reddy</a:t>
            </a:r>
            <a:endParaRPr lang="en-US" sz="1700"/>
          </a:p>
        </p:txBody>
      </p:sp>
      <p:sp>
        <p:nvSpPr>
          <p:cNvPr id="412222536" name="Shape 9"/>
          <p:cNvSpPr/>
          <p:nvPr/>
        </p:nvSpPr>
        <p:spPr bwMode="auto">
          <a:xfrm>
            <a:off x="2345436" y="4160519"/>
            <a:ext cx="2011680" cy="0"/>
          </a:xfrm>
          <a:prstGeom prst="line">
            <a:avLst/>
          </a:prstGeom>
          <a:noFill/>
          <a:ln w="12700">
            <a:solidFill>
              <a:srgbClr val="1C2F58"/>
            </a:solidFill>
            <a:prstDash val="solid"/>
          </a:ln>
        </p:spPr>
      </p:sp>
      <p:sp>
        <p:nvSpPr>
          <p:cNvPr id="376387299" name="Text 10"/>
          <p:cNvSpPr txBox="1"/>
          <p:nvPr/>
        </p:nvSpPr>
        <p:spPr bwMode="auto">
          <a:xfrm>
            <a:off x="1156716" y="4297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  <a:defRPr/>
            </a:pPr>
            <a:r>
              <a:rPr lang="en-US" sz="1300" b="1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Roll No: </a:t>
            </a:r>
            <a:r>
              <a:rPr lang="en-US" sz="13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2403A52233</a:t>
            </a:r>
            <a:endParaRPr lang="en-US" sz="1300"/>
          </a:p>
          <a:p>
            <a:pPr marL="0" indent="0" algn="ctr">
              <a:lnSpc>
                <a:spcPct val="140000"/>
              </a:lnSpc>
              <a:buNone/>
              <a:defRPr/>
            </a:pPr>
            <a:r>
              <a:rPr lang="en-US" sz="1300" b="1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Batch: </a:t>
            </a:r>
            <a:r>
              <a:rPr lang="en-US" sz="13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09</a:t>
            </a:r>
            <a:endParaRPr lang="en-US" sz="1300"/>
          </a:p>
        </p:txBody>
      </p:sp>
      <p:sp>
        <p:nvSpPr>
          <p:cNvPr id="879693218" name="Shape 11"/>
          <p:cNvSpPr/>
          <p:nvPr/>
        </p:nvSpPr>
        <p:spPr bwMode="auto">
          <a:xfrm>
            <a:off x="6368796" y="2148840"/>
            <a:ext cx="4937760" cy="2834640"/>
          </a:xfrm>
          <a:prstGeom prst="roundRect">
            <a:avLst>
              <a:gd name="adj" fmla="val 3871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873951661" name="Shape 12"/>
          <p:cNvSpPr/>
          <p:nvPr/>
        </p:nvSpPr>
        <p:spPr bwMode="auto">
          <a:xfrm>
            <a:off x="8380476" y="2560320"/>
            <a:ext cx="914400" cy="914400"/>
          </a:xfrm>
          <a:prstGeom prst="ellipse">
            <a:avLst/>
          </a:prstGeom>
          <a:solidFill>
            <a:srgbClr val="0F1D3A"/>
          </a:solidFill>
          <a:ln/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19700456" name="Text 13"/>
          <p:cNvSpPr txBox="1"/>
          <p:nvPr/>
        </p:nvSpPr>
        <p:spPr bwMode="auto">
          <a:xfrm>
            <a:off x="6643116" y="3657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V. Gagan Chandra Tej</a:t>
            </a:r>
            <a:endParaRPr lang="en-US" sz="1700"/>
          </a:p>
        </p:txBody>
      </p:sp>
      <p:sp>
        <p:nvSpPr>
          <p:cNvPr id="1500230776" name="Shape 14"/>
          <p:cNvSpPr/>
          <p:nvPr/>
        </p:nvSpPr>
        <p:spPr bwMode="auto">
          <a:xfrm>
            <a:off x="7831836" y="4160519"/>
            <a:ext cx="2011680" cy="0"/>
          </a:xfrm>
          <a:prstGeom prst="line">
            <a:avLst/>
          </a:prstGeom>
          <a:noFill/>
          <a:ln w="12700">
            <a:solidFill>
              <a:srgbClr val="1C2F58"/>
            </a:solidFill>
            <a:prstDash val="solid"/>
          </a:ln>
        </p:spPr>
      </p:sp>
      <p:sp>
        <p:nvSpPr>
          <p:cNvPr id="1791923430" name="Text 15"/>
          <p:cNvSpPr txBox="1"/>
          <p:nvPr/>
        </p:nvSpPr>
        <p:spPr bwMode="auto">
          <a:xfrm>
            <a:off x="6643116" y="4297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  <a:defRPr/>
            </a:pPr>
            <a:r>
              <a:rPr lang="en-US" sz="1300" b="1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Roll No: </a:t>
            </a:r>
            <a:r>
              <a:rPr lang="en-US" sz="13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2403A52222</a:t>
            </a:r>
            <a:endParaRPr lang="en-US" sz="1300"/>
          </a:p>
          <a:p>
            <a:pPr marL="0" indent="0" algn="ctr">
              <a:lnSpc>
                <a:spcPct val="140000"/>
              </a:lnSpc>
              <a:buNone/>
              <a:defRPr/>
            </a:pPr>
            <a:r>
              <a:rPr lang="en-US" sz="1300" b="1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Batch: </a:t>
            </a:r>
            <a:r>
              <a:rPr lang="en-US" sz="13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09</a:t>
            </a:r>
            <a:endParaRPr lang="en-US" sz="1300"/>
          </a:p>
        </p:txBody>
      </p:sp>
      <p:sp>
        <p:nvSpPr>
          <p:cNvPr id="285472476" name="Text 16"/>
          <p:cNvSpPr txBox="1"/>
          <p:nvPr/>
        </p:nvSpPr>
        <p:spPr bwMode="auto">
          <a:xfrm>
            <a:off x="0" y="5440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Department of Computer Science  and Engineering(AI &amp; ML)</a:t>
            </a:r>
            <a:endParaRPr lang="en-US" sz="1200"/>
          </a:p>
        </p:txBody>
      </p:sp>
      <p:pic>
        <p:nvPicPr>
          <p:cNvPr id="1830084377" name="Image 0" descr="userplain2_cya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099816" y="2766059"/>
            <a:ext cx="502920" cy="502920"/>
          </a:xfrm>
          <a:prstGeom prst="rect">
            <a:avLst/>
          </a:prstGeom>
        </p:spPr>
      </p:pic>
      <p:pic>
        <p:nvPicPr>
          <p:cNvPr id="182697334" name="Image 1" descr="userplain2_cya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86216" y="2766059"/>
            <a:ext cx="502920" cy="502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050547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153102321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sp>
        <p:nvSpPr>
          <p:cNvPr id="155585201" name="Text 2"/>
          <p:cNvSpPr txBox="1"/>
          <p:nvPr/>
        </p:nvSpPr>
        <p:spPr bwMode="auto"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endParaRPr lang="en-US" sz="1200"/>
          </a:p>
        </p:txBody>
      </p:sp>
      <p:sp>
        <p:nvSpPr>
          <p:cNvPr id="2030503245" name="Text 3"/>
          <p:cNvSpPr txBox="1"/>
          <p:nvPr/>
        </p:nvSpPr>
        <p:spPr bwMode="auto"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Problem</a:t>
            </a:r>
            <a:endParaRPr lang="en-US" sz="3000"/>
          </a:p>
        </p:txBody>
      </p:sp>
      <p:sp>
        <p:nvSpPr>
          <p:cNvPr id="1592602661" name="Text 4"/>
          <p:cNvSpPr txBox="1"/>
          <p:nvPr/>
        </p:nvSpPr>
        <p:spPr bwMode="auto"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LungAI</a:t>
            </a:r>
            <a:endParaRPr lang="en-US" sz="1000"/>
          </a:p>
        </p:txBody>
      </p:sp>
      <p:sp>
        <p:nvSpPr>
          <p:cNvPr id="329694783" name="Text 5"/>
          <p:cNvSpPr txBox="1"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  <p:sp>
        <p:nvSpPr>
          <p:cNvPr id="222354629" name="Shape 6"/>
          <p:cNvSpPr/>
          <p:nvPr/>
        </p:nvSpPr>
        <p:spPr bwMode="auto">
          <a:xfrm>
            <a:off x="548640" y="1691640"/>
            <a:ext cx="11091672" cy="1965960"/>
          </a:xfrm>
          <a:prstGeom prst="roundRect">
            <a:avLst>
              <a:gd name="adj" fmla="val 5581"/>
            </a:avLst>
          </a:prstGeom>
          <a:solidFill>
            <a:srgbClr val="0F1D3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671177631" name="Text 7"/>
          <p:cNvSpPr txBox="1"/>
          <p:nvPr/>
        </p:nvSpPr>
        <p:spPr bwMode="auto">
          <a:xfrm>
            <a:off x="914400" y="1874520"/>
            <a:ext cx="10378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Chest X-ray is the most widely used thoracic imaging modality worldwide — low cost, fast, and low radiation. But interpretation is manual, time-consuming, and varies between radiologists. Even where AI already assists with classification, the explanation a clinician sees is a flat, static overlay with no spatial or anatomical context — nothing they can rotate, explore, or truly trust.</a:t>
            </a:r>
            <a:endParaRPr lang="en-US" sz="1600"/>
          </a:p>
        </p:txBody>
      </p:sp>
      <p:sp>
        <p:nvSpPr>
          <p:cNvPr id="430124340" name="Shape 8"/>
          <p:cNvSpPr/>
          <p:nvPr/>
        </p:nvSpPr>
        <p:spPr bwMode="auto">
          <a:xfrm>
            <a:off x="548640" y="39776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257343129" name="Shape 9"/>
          <p:cNvSpPr/>
          <p:nvPr/>
        </p:nvSpPr>
        <p:spPr bwMode="auto">
          <a:xfrm>
            <a:off x="804672" y="4233672"/>
            <a:ext cx="512064" cy="512064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702076318" name="Image 0" descr="xray_cya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9886" y="4348886"/>
            <a:ext cx="281635" cy="281635"/>
          </a:xfrm>
          <a:prstGeom prst="rect">
            <a:avLst/>
          </a:prstGeom>
        </p:spPr>
      </p:pic>
      <p:sp>
        <p:nvSpPr>
          <p:cNvPr id="1045802927" name="Text 10"/>
          <p:cNvSpPr txBox="1"/>
          <p:nvPr/>
        </p:nvSpPr>
        <p:spPr bwMode="auto">
          <a:xfrm>
            <a:off x="1463040" y="41788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Globally accessible</a:t>
            </a:r>
            <a:endParaRPr lang="en-US" sz="1300"/>
          </a:p>
        </p:txBody>
      </p:sp>
      <p:sp>
        <p:nvSpPr>
          <p:cNvPr id="1772344631" name="Text 11"/>
          <p:cNvSpPr txBox="1"/>
          <p:nvPr/>
        </p:nvSpPr>
        <p:spPr bwMode="auto">
          <a:xfrm>
            <a:off x="804672" y="48463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The most-used thoracic scan worldwide</a:t>
            </a:r>
            <a:endParaRPr lang="en-US" sz="1050"/>
          </a:p>
        </p:txBody>
      </p:sp>
      <p:sp>
        <p:nvSpPr>
          <p:cNvPr id="446729514" name="Shape 12"/>
          <p:cNvSpPr/>
          <p:nvPr/>
        </p:nvSpPr>
        <p:spPr bwMode="auto">
          <a:xfrm>
            <a:off x="4343400" y="39776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937537207" name="Shape 13"/>
          <p:cNvSpPr/>
          <p:nvPr/>
        </p:nvSpPr>
        <p:spPr bwMode="auto">
          <a:xfrm>
            <a:off x="4599432" y="4233672"/>
            <a:ext cx="512064" cy="512064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664242303" name="Image 1" descr="warn_pink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714646" y="4348886"/>
            <a:ext cx="281635" cy="281635"/>
          </a:xfrm>
          <a:prstGeom prst="rect">
            <a:avLst/>
          </a:prstGeom>
        </p:spPr>
      </p:pic>
      <p:sp>
        <p:nvSpPr>
          <p:cNvPr id="1038291762" name="Text 14"/>
          <p:cNvSpPr txBox="1"/>
          <p:nvPr/>
        </p:nvSpPr>
        <p:spPr bwMode="auto">
          <a:xfrm>
            <a:off x="5257800" y="41788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Slow &amp; inconsistent</a:t>
            </a:r>
            <a:endParaRPr lang="en-US" sz="1300"/>
          </a:p>
        </p:txBody>
      </p:sp>
      <p:sp>
        <p:nvSpPr>
          <p:cNvPr id="1293563337" name="Text 15"/>
          <p:cNvSpPr txBox="1"/>
          <p:nvPr/>
        </p:nvSpPr>
        <p:spPr bwMode="auto">
          <a:xfrm>
            <a:off x="4599432" y="48463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Manual reads vary between radiologists</a:t>
            </a:r>
            <a:endParaRPr lang="en-US" sz="1050"/>
          </a:p>
        </p:txBody>
      </p:sp>
      <p:sp>
        <p:nvSpPr>
          <p:cNvPr id="2132726" name="Shape 16"/>
          <p:cNvSpPr/>
          <p:nvPr/>
        </p:nvSpPr>
        <p:spPr bwMode="auto">
          <a:xfrm>
            <a:off x="8138160" y="39776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384214597" name="Shape 17"/>
          <p:cNvSpPr/>
          <p:nvPr/>
        </p:nvSpPr>
        <p:spPr bwMode="auto">
          <a:xfrm>
            <a:off x="8394192" y="4233672"/>
            <a:ext cx="512064" cy="512064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883968988" name="Image 2" descr="search_cyan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509406" y="4348886"/>
            <a:ext cx="281635" cy="281635"/>
          </a:xfrm>
          <a:prstGeom prst="rect">
            <a:avLst/>
          </a:prstGeom>
        </p:spPr>
      </p:pic>
      <p:sp>
        <p:nvSpPr>
          <p:cNvPr id="1001210755" name="Text 18"/>
          <p:cNvSpPr txBox="1"/>
          <p:nvPr/>
        </p:nvSpPr>
        <p:spPr bwMode="auto">
          <a:xfrm>
            <a:off x="9052560" y="41788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Explanation gap</a:t>
            </a:r>
            <a:endParaRPr lang="en-US" sz="1300"/>
          </a:p>
        </p:txBody>
      </p:sp>
      <p:sp>
        <p:nvSpPr>
          <p:cNvPr id="1242502678" name="Text 19"/>
          <p:cNvSpPr txBox="1"/>
          <p:nvPr/>
        </p:nvSpPr>
        <p:spPr bwMode="auto">
          <a:xfrm>
            <a:off x="8394192" y="48463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AI output isn't spatial or explorable</a:t>
            </a:r>
            <a:endParaRPr lang="en-US" sz="1050"/>
          </a:p>
        </p:txBody>
      </p:sp>
      <p:sp>
        <p:nvSpPr>
          <p:cNvPr id="1067199946" name="Text 20"/>
          <p:cNvSpPr txBox="1"/>
          <p:nvPr/>
        </p:nvSpPr>
        <p:spPr bwMode="auto"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i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The result: patients everywhere get a fast scan, but not a trustworthy, explorable explanation of what it means.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730731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15512820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sp>
        <p:nvSpPr>
          <p:cNvPr id="1254308470" name="Text 2"/>
          <p:cNvSpPr txBox="1"/>
          <p:nvPr/>
        </p:nvSpPr>
        <p:spPr bwMode="auto"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endParaRPr lang="en-US" sz="1200"/>
          </a:p>
        </p:txBody>
      </p:sp>
      <p:sp>
        <p:nvSpPr>
          <p:cNvPr id="1903435115" name="Text 3"/>
          <p:cNvSpPr txBox="1"/>
          <p:nvPr/>
        </p:nvSpPr>
        <p:spPr bwMode="auto"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Existing Solutions</a:t>
            </a:r>
            <a:endParaRPr lang="en-US" sz="3000"/>
          </a:p>
        </p:txBody>
      </p:sp>
      <p:sp>
        <p:nvSpPr>
          <p:cNvPr id="818286199" name="Text 4"/>
          <p:cNvSpPr txBox="1"/>
          <p:nvPr/>
        </p:nvSpPr>
        <p:spPr bwMode="auto"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LungAI</a:t>
            </a:r>
            <a:endParaRPr lang="en-US" sz="1000"/>
          </a:p>
        </p:txBody>
      </p:sp>
      <p:sp>
        <p:nvSpPr>
          <p:cNvPr id="2017041565" name="Text 5"/>
          <p:cNvSpPr txBox="1"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  <p:sp>
        <p:nvSpPr>
          <p:cNvPr id="1001711369" name="Shape 6"/>
          <p:cNvSpPr/>
          <p:nvPr/>
        </p:nvSpPr>
        <p:spPr bwMode="auto">
          <a:xfrm>
            <a:off x="548640" y="160020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643837681" name="Shape 7"/>
          <p:cNvSpPr/>
          <p:nvPr/>
        </p:nvSpPr>
        <p:spPr bwMode="auto">
          <a:xfrm>
            <a:off x="822960" y="1892808"/>
            <a:ext cx="603504" cy="603504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1905778658" name="Image 0" descr="brain_cya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58748" y="2028596"/>
            <a:ext cx="331927" cy="331927"/>
          </a:xfrm>
          <a:prstGeom prst="rect">
            <a:avLst/>
          </a:prstGeom>
        </p:spPr>
      </p:pic>
      <p:sp>
        <p:nvSpPr>
          <p:cNvPr id="717662184" name="Text 8"/>
          <p:cNvSpPr txBox="1"/>
          <p:nvPr/>
        </p:nvSpPr>
        <p:spPr bwMode="auto">
          <a:xfrm>
            <a:off x="822960" y="2624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CNN Classifiers</a:t>
            </a:r>
            <a:endParaRPr lang="en-US" sz="1500"/>
          </a:p>
        </p:txBody>
      </p:sp>
      <p:sp>
        <p:nvSpPr>
          <p:cNvPr id="795397183" name="Text 9"/>
          <p:cNvSpPr txBox="1"/>
          <p:nvPr/>
        </p:nvSpPr>
        <p:spPr bwMode="auto">
          <a:xfrm>
            <a:off x="822960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CheXNet, ChestX-ray8</a:t>
            </a:r>
            <a:endParaRPr lang="en-US" sz="1050"/>
          </a:p>
        </p:txBody>
      </p:sp>
      <p:sp>
        <p:nvSpPr>
          <p:cNvPr id="861700974" name="Text 10"/>
          <p:cNvSpPr txBox="1"/>
          <p:nvPr/>
        </p:nvSpPr>
        <p:spPr bwMode="auto">
          <a:xfrm>
            <a:off x="822960" y="3337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Deep learning models classify multiple thoracic diseases directly from a chest X-ray with strong accuracy.</a:t>
            </a:r>
            <a:endParaRPr lang="en-US" sz="1150"/>
          </a:p>
        </p:txBody>
      </p:sp>
      <p:sp>
        <p:nvSpPr>
          <p:cNvPr id="354393771" name="Shape 11"/>
          <p:cNvSpPr/>
          <p:nvPr/>
        </p:nvSpPr>
        <p:spPr bwMode="auto">
          <a:xfrm>
            <a:off x="822960" y="4297680"/>
            <a:ext cx="2971800" cy="0"/>
          </a:xfrm>
          <a:prstGeom prst="line">
            <a:avLst/>
          </a:prstGeom>
          <a:noFill/>
          <a:ln w="12700">
            <a:solidFill>
              <a:srgbClr val="1C2F58"/>
            </a:solidFill>
            <a:prstDash val="solid"/>
          </a:ln>
        </p:spPr>
      </p:sp>
      <p:sp>
        <p:nvSpPr>
          <p:cNvPr id="1844817727" name="Text 12"/>
          <p:cNvSpPr txBox="1"/>
          <p:nvPr/>
        </p:nvSpPr>
        <p:spPr bwMode="auto">
          <a:xfrm>
            <a:off x="822960" y="4434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Limitation:  </a:t>
            </a:r>
            <a:r>
              <a:rPr lang="en-US" sz="110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Gives a label and confidence score — not a reason.</a:t>
            </a:r>
            <a:endParaRPr lang="en-US" sz="1100"/>
          </a:p>
        </p:txBody>
      </p:sp>
      <p:sp>
        <p:nvSpPr>
          <p:cNvPr id="232578898" name="Shape 13"/>
          <p:cNvSpPr/>
          <p:nvPr/>
        </p:nvSpPr>
        <p:spPr bwMode="auto">
          <a:xfrm>
            <a:off x="4343400" y="160020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336549666" name="Shape 14"/>
          <p:cNvSpPr/>
          <p:nvPr/>
        </p:nvSpPr>
        <p:spPr bwMode="auto">
          <a:xfrm>
            <a:off x="4617720" y="1892808"/>
            <a:ext cx="603504" cy="603504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1734186369" name="Image 1" descr="search_pink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753508" y="2028596"/>
            <a:ext cx="331927" cy="331927"/>
          </a:xfrm>
          <a:prstGeom prst="rect">
            <a:avLst/>
          </a:prstGeom>
        </p:spPr>
      </p:pic>
      <p:sp>
        <p:nvSpPr>
          <p:cNvPr id="1789300203" name="Text 15"/>
          <p:cNvSpPr txBox="1"/>
          <p:nvPr/>
        </p:nvSpPr>
        <p:spPr bwMode="auto">
          <a:xfrm>
            <a:off x="4617720" y="2624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Grad-CAM Heatmaps</a:t>
            </a:r>
            <a:endParaRPr lang="en-US" sz="1500"/>
          </a:p>
        </p:txBody>
      </p:sp>
      <p:sp>
        <p:nvSpPr>
          <p:cNvPr id="986302474" name="Text 16"/>
          <p:cNvSpPr txBox="1"/>
          <p:nvPr/>
        </p:nvSpPr>
        <p:spPr bwMode="auto">
          <a:xfrm>
            <a:off x="4617720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Standard explainability method</a:t>
            </a:r>
            <a:endParaRPr lang="en-US" sz="1050"/>
          </a:p>
        </p:txBody>
      </p:sp>
      <p:sp>
        <p:nvSpPr>
          <p:cNvPr id="19564497" name="Text 17"/>
          <p:cNvSpPr txBox="1"/>
          <p:nvPr/>
        </p:nvSpPr>
        <p:spPr bwMode="auto">
          <a:xfrm>
            <a:off x="4617720" y="3337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Highlights which image regions drove the model's prediction, overlaid on the original X-ray.</a:t>
            </a:r>
            <a:endParaRPr lang="en-US" sz="1150"/>
          </a:p>
        </p:txBody>
      </p:sp>
      <p:sp>
        <p:nvSpPr>
          <p:cNvPr id="1173456748" name="Shape 18"/>
          <p:cNvSpPr/>
          <p:nvPr/>
        </p:nvSpPr>
        <p:spPr bwMode="auto">
          <a:xfrm>
            <a:off x="4617720" y="4297680"/>
            <a:ext cx="2971800" cy="0"/>
          </a:xfrm>
          <a:prstGeom prst="line">
            <a:avLst/>
          </a:prstGeom>
          <a:noFill/>
          <a:ln w="12700">
            <a:solidFill>
              <a:srgbClr val="1C2F58"/>
            </a:solidFill>
            <a:prstDash val="solid"/>
          </a:ln>
        </p:spPr>
      </p:sp>
      <p:sp>
        <p:nvSpPr>
          <p:cNvPr id="819020527" name="Text 19"/>
          <p:cNvSpPr txBox="1"/>
          <p:nvPr/>
        </p:nvSpPr>
        <p:spPr bwMode="auto">
          <a:xfrm>
            <a:off x="4617720" y="4434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Limitation:  </a:t>
            </a:r>
            <a:r>
              <a:rPr lang="en-US" sz="110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Flat 2D heatmap only — no spatial or anatomical context, nothing to rotate or explore.</a:t>
            </a:r>
            <a:endParaRPr lang="en-US" sz="1100"/>
          </a:p>
        </p:txBody>
      </p:sp>
      <p:sp>
        <p:nvSpPr>
          <p:cNvPr id="2121111291" name="Shape 20"/>
          <p:cNvSpPr/>
          <p:nvPr/>
        </p:nvSpPr>
        <p:spPr bwMode="auto">
          <a:xfrm>
            <a:off x="8138160" y="160020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098198067" name="Shape 21"/>
          <p:cNvSpPr/>
          <p:nvPr/>
        </p:nvSpPr>
        <p:spPr bwMode="auto">
          <a:xfrm>
            <a:off x="8412480" y="1892808"/>
            <a:ext cx="603504" cy="603504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190637946" name="Image 2" descr="cubes_cyan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548268" y="2028596"/>
            <a:ext cx="331927" cy="331927"/>
          </a:xfrm>
          <a:prstGeom prst="rect">
            <a:avLst/>
          </a:prstGeom>
        </p:spPr>
      </p:pic>
      <p:sp>
        <p:nvSpPr>
          <p:cNvPr id="1053927328" name="Text 22"/>
          <p:cNvSpPr txBox="1"/>
          <p:nvPr/>
        </p:nvSpPr>
        <p:spPr bwMode="auto">
          <a:xfrm>
            <a:off x="8412480" y="2624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3D Medical Visualization</a:t>
            </a:r>
            <a:endParaRPr lang="en-US" sz="1500"/>
          </a:p>
        </p:txBody>
      </p:sp>
      <p:sp>
        <p:nvSpPr>
          <p:cNvPr id="617626033" name="Text 23"/>
          <p:cNvSpPr txBox="1"/>
          <p:nvPr/>
        </p:nvSpPr>
        <p:spPr bwMode="auto">
          <a:xfrm>
            <a:off x="8412480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3D Slicer, SenseCare</a:t>
            </a:r>
            <a:endParaRPr lang="en-US" sz="1050"/>
          </a:p>
        </p:txBody>
      </p:sp>
      <p:sp>
        <p:nvSpPr>
          <p:cNvPr id="454204988" name="Text 24"/>
          <p:cNvSpPr txBox="1"/>
          <p:nvPr/>
        </p:nvSpPr>
        <p:spPr bwMode="auto">
          <a:xfrm>
            <a:off x="8412480" y="3337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Interactive, rotatable 3D tools already exist and are used in medicine today.</a:t>
            </a:r>
            <a:endParaRPr lang="en-US" sz="1150"/>
          </a:p>
        </p:txBody>
      </p:sp>
      <p:sp>
        <p:nvSpPr>
          <p:cNvPr id="1370838652" name="Shape 25"/>
          <p:cNvSpPr/>
          <p:nvPr/>
        </p:nvSpPr>
        <p:spPr bwMode="auto">
          <a:xfrm>
            <a:off x="8412480" y="4297680"/>
            <a:ext cx="2971800" cy="0"/>
          </a:xfrm>
          <a:prstGeom prst="line">
            <a:avLst/>
          </a:prstGeom>
          <a:noFill/>
          <a:ln w="12700">
            <a:solidFill>
              <a:srgbClr val="1C2F58"/>
            </a:solidFill>
            <a:prstDash val="solid"/>
          </a:ln>
        </p:spPr>
      </p:sp>
      <p:sp>
        <p:nvSpPr>
          <p:cNvPr id="628285306" name="Text 26"/>
          <p:cNvSpPr txBox="1"/>
          <p:nvPr/>
        </p:nvSpPr>
        <p:spPr bwMode="auto">
          <a:xfrm>
            <a:off x="8412480" y="4434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Limitation:  </a:t>
            </a:r>
            <a:r>
              <a:rPr lang="en-US" sz="110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Require real volumetric CT / MRI data — not available for a simple 2D chest X-ray.</a:t>
            </a:r>
            <a:endParaRPr lang="en-US" sz="1100"/>
          </a:p>
        </p:txBody>
      </p:sp>
      <p:sp>
        <p:nvSpPr>
          <p:cNvPr id="1033779946" name="Shape 27"/>
          <p:cNvSpPr/>
          <p:nvPr/>
        </p:nvSpPr>
        <p:spPr bwMode="auto">
          <a:xfrm>
            <a:off x="548640" y="56235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0F1D3A"/>
          </a:solidFill>
          <a:ln w="12700">
            <a:solidFill>
              <a:srgbClr val="22D3EE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843460258" name="Text 28"/>
          <p:cNvSpPr txBox="1"/>
          <p:nvPr/>
        </p:nvSpPr>
        <p:spPr bwMode="auto">
          <a:xfrm>
            <a:off x="822960" y="562356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25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The Gap: 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system bridges a 2D chest X-ray classifier's output with an interactive 3D spatial explanation — despite chest X-ray being the far more globally accessible modality.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226940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943151685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sp>
        <p:nvSpPr>
          <p:cNvPr id="434220456" name="Text 2"/>
          <p:cNvSpPr txBox="1"/>
          <p:nvPr/>
        </p:nvSpPr>
        <p:spPr bwMode="auto"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00" b="1" spc="2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WHAT'S ACTUALLY NEW</a:t>
            </a:r>
            <a:endParaRPr lang="en-US" sz="1200"/>
          </a:p>
        </p:txBody>
      </p:sp>
      <p:sp>
        <p:nvSpPr>
          <p:cNvPr id="2111202166" name="Text 3"/>
          <p:cNvSpPr txBox="1"/>
          <p:nvPr/>
        </p:nvSpPr>
        <p:spPr bwMode="auto"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Our Contribution</a:t>
            </a:r>
            <a:endParaRPr lang="en-US" sz="3000"/>
          </a:p>
        </p:txBody>
      </p:sp>
      <p:sp>
        <p:nvSpPr>
          <p:cNvPr id="131375137" name="Text 4"/>
          <p:cNvSpPr txBox="1"/>
          <p:nvPr/>
        </p:nvSpPr>
        <p:spPr bwMode="auto"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LungAI</a:t>
            </a:r>
            <a:endParaRPr lang="en-US" sz="1000"/>
          </a:p>
        </p:txBody>
      </p:sp>
      <p:sp>
        <p:nvSpPr>
          <p:cNvPr id="1943159690" name="Text 5"/>
          <p:cNvSpPr txBox="1"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00"/>
          </a:p>
        </p:txBody>
      </p:sp>
      <p:sp>
        <p:nvSpPr>
          <p:cNvPr id="2048797274" name="Shape 6"/>
          <p:cNvSpPr/>
          <p:nvPr/>
        </p:nvSpPr>
        <p:spPr bwMode="auto">
          <a:xfrm>
            <a:off x="548640" y="15544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F1D3A"/>
          </a:solidFill>
          <a:ln w="12700">
            <a:solidFill>
              <a:srgbClr val="F472B6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576482765" name="Text 7"/>
          <p:cNvSpPr txBox="1"/>
          <p:nvPr/>
        </p:nvSpPr>
        <p:spPr bwMode="auto">
          <a:xfrm>
            <a:off x="822960" y="15544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Not claiming a better classifier — </a:t>
            </a:r>
            <a:r>
              <a:rPr lang="en-US" sz="16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claiming a better explainability interface.</a:t>
            </a:r>
            <a:endParaRPr lang="en-US" sz="1600"/>
          </a:p>
        </p:txBody>
      </p:sp>
      <p:sp>
        <p:nvSpPr>
          <p:cNvPr id="1001430631" name="Shape 8"/>
          <p:cNvSpPr/>
          <p:nvPr/>
        </p:nvSpPr>
        <p:spPr bwMode="auto">
          <a:xfrm>
            <a:off x="548640" y="26974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846014937" name="Shape 9"/>
          <p:cNvSpPr/>
          <p:nvPr/>
        </p:nvSpPr>
        <p:spPr bwMode="auto">
          <a:xfrm>
            <a:off x="822960" y="3017519"/>
            <a:ext cx="640080" cy="640080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501007581" name="Image 0" descr="cube_cya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66977" y="3161538"/>
            <a:ext cx="352044" cy="352044"/>
          </a:xfrm>
          <a:prstGeom prst="rect">
            <a:avLst/>
          </a:prstGeom>
        </p:spPr>
      </p:pic>
      <p:sp>
        <p:nvSpPr>
          <p:cNvPr id="569009096" name="Text 10"/>
          <p:cNvSpPr txBox="1"/>
          <p:nvPr/>
        </p:nvSpPr>
        <p:spPr bwMode="auto">
          <a:xfrm>
            <a:off x="822960" y="3840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3D-mapped explainability</a:t>
            </a:r>
            <a:endParaRPr lang="en-US" sz="1500"/>
          </a:p>
        </p:txBody>
      </p:sp>
      <p:sp>
        <p:nvSpPr>
          <p:cNvPr id="1989821726" name="Text 11"/>
          <p:cNvSpPr txBox="1"/>
          <p:nvPr/>
        </p:nvSpPr>
        <p:spPr bwMode="auto">
          <a:xfrm>
            <a:off x="822960" y="44805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LungAI takes a 2D CNN's prediction and Grad-CAM region, and maps it onto an interactive schematic 3D lung model the user can rotate, zoom, and explore.</a:t>
            </a:r>
            <a:endParaRPr lang="en-US" sz="1200"/>
          </a:p>
        </p:txBody>
      </p:sp>
      <p:sp>
        <p:nvSpPr>
          <p:cNvPr id="769713028" name="Shape 12"/>
          <p:cNvSpPr/>
          <p:nvPr/>
        </p:nvSpPr>
        <p:spPr bwMode="auto">
          <a:xfrm>
            <a:off x="4343400" y="26974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600679354" name="Shape 13"/>
          <p:cNvSpPr/>
          <p:nvPr/>
        </p:nvSpPr>
        <p:spPr bwMode="auto">
          <a:xfrm>
            <a:off x="4617720" y="3017519"/>
            <a:ext cx="640080" cy="640080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596570147" name="Image 1" descr="layer_cya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761738" y="3161538"/>
            <a:ext cx="352044" cy="352044"/>
          </a:xfrm>
          <a:prstGeom prst="rect">
            <a:avLst/>
          </a:prstGeom>
        </p:spPr>
      </p:pic>
      <p:sp>
        <p:nvSpPr>
          <p:cNvPr id="1396897817" name="Text 14"/>
          <p:cNvSpPr txBox="1"/>
          <p:nvPr/>
        </p:nvSpPr>
        <p:spPr bwMode="auto">
          <a:xfrm>
            <a:off x="4617720" y="3840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full clinical workstation</a:t>
            </a:r>
            <a:endParaRPr lang="en-US" sz="1500"/>
          </a:p>
        </p:txBody>
      </p:sp>
      <p:sp>
        <p:nvSpPr>
          <p:cNvPr id="1920163364" name="Text 15"/>
          <p:cNvSpPr txBox="1"/>
          <p:nvPr/>
        </p:nvSpPr>
        <p:spPr bwMode="auto">
          <a:xfrm>
            <a:off x="4617720" y="44805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Not just a model — a complete end-to-end product: upload, analysis, patient records, history, reporting, doctor login, and guest access.</a:t>
            </a:r>
            <a:endParaRPr lang="en-US" sz="1200"/>
          </a:p>
        </p:txBody>
      </p:sp>
      <p:sp>
        <p:nvSpPr>
          <p:cNvPr id="1993482373" name="Shape 16"/>
          <p:cNvSpPr/>
          <p:nvPr/>
        </p:nvSpPr>
        <p:spPr bwMode="auto">
          <a:xfrm>
            <a:off x="8138160" y="26974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534401569" name="Shape 17"/>
          <p:cNvSpPr/>
          <p:nvPr/>
        </p:nvSpPr>
        <p:spPr bwMode="auto">
          <a:xfrm>
            <a:off x="8412480" y="3017519"/>
            <a:ext cx="640080" cy="640080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999643093" name="Image 2" descr="check_cyan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556498" y="3161538"/>
            <a:ext cx="352044" cy="352044"/>
          </a:xfrm>
          <a:prstGeom prst="rect">
            <a:avLst/>
          </a:prstGeom>
        </p:spPr>
      </p:pic>
      <p:sp>
        <p:nvSpPr>
          <p:cNvPr id="915394185" name="Text 18"/>
          <p:cNvSpPr txBox="1"/>
          <p:nvPr/>
        </p:nvSpPr>
        <p:spPr bwMode="auto">
          <a:xfrm>
            <a:off x="8412480" y="3840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Honest scientific framing</a:t>
            </a:r>
            <a:endParaRPr lang="en-US" sz="1500"/>
          </a:p>
        </p:txBody>
      </p:sp>
      <p:sp>
        <p:nvSpPr>
          <p:cNvPr id="1454296653" name="Text 19"/>
          <p:cNvSpPr txBox="1"/>
          <p:nvPr/>
        </p:nvSpPr>
        <p:spPr bwMode="auto">
          <a:xfrm>
            <a:off x="8412480" y="44805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The 3D model is a schematic anatomical reference, not a patient-specific reconstruction — that would require real volumetric CT data a single X-ray can't provide.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056800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1803559433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sp>
        <p:nvSpPr>
          <p:cNvPr id="607250655" name="Text 2"/>
          <p:cNvSpPr txBox="1"/>
          <p:nvPr/>
        </p:nvSpPr>
        <p:spPr bwMode="auto"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endParaRPr lang="en-US" sz="1200"/>
          </a:p>
        </p:txBody>
      </p:sp>
      <p:sp>
        <p:nvSpPr>
          <p:cNvPr id="250756855" name="Text 3"/>
          <p:cNvSpPr txBox="1"/>
          <p:nvPr/>
        </p:nvSpPr>
        <p:spPr bwMode="auto"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Architecture</a:t>
            </a:r>
            <a:endParaRPr lang="en-US" sz="3000"/>
          </a:p>
        </p:txBody>
      </p:sp>
      <p:sp>
        <p:nvSpPr>
          <p:cNvPr id="197025806" name="Text 4"/>
          <p:cNvSpPr txBox="1"/>
          <p:nvPr/>
        </p:nvSpPr>
        <p:spPr bwMode="auto"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LungAI</a:t>
            </a:r>
            <a:endParaRPr lang="en-US" sz="1000"/>
          </a:p>
        </p:txBody>
      </p:sp>
      <p:sp>
        <p:nvSpPr>
          <p:cNvPr id="711913261" name="Text 5"/>
          <p:cNvSpPr txBox="1"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/>
          </a:p>
        </p:txBody>
      </p:sp>
      <p:sp>
        <p:nvSpPr>
          <p:cNvPr id="45887271" name="Shape 6"/>
          <p:cNvSpPr/>
          <p:nvPr/>
        </p:nvSpPr>
        <p:spPr bwMode="auto">
          <a:xfrm>
            <a:off x="685800" y="1920240"/>
            <a:ext cx="3063240" cy="2834640"/>
          </a:xfrm>
          <a:prstGeom prst="roundRect">
            <a:avLst>
              <a:gd name="adj" fmla="val 3871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742664580" name="Shape 7"/>
          <p:cNvSpPr/>
          <p:nvPr/>
        </p:nvSpPr>
        <p:spPr bwMode="auto">
          <a:xfrm>
            <a:off x="1851660" y="2240280"/>
            <a:ext cx="731520" cy="731520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609795547" name="Image 0" descr="code_cya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16252" y="2404872"/>
            <a:ext cx="402336" cy="402336"/>
          </a:xfrm>
          <a:prstGeom prst="rect">
            <a:avLst/>
          </a:prstGeom>
        </p:spPr>
      </p:pic>
      <p:sp>
        <p:nvSpPr>
          <p:cNvPr id="831866201" name="Text 8"/>
          <p:cNvSpPr txBox="1"/>
          <p:nvPr/>
        </p:nvSpPr>
        <p:spPr bwMode="auto">
          <a:xfrm>
            <a:off x="68580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Frontend</a:t>
            </a:r>
            <a:endParaRPr lang="en-US" sz="1600"/>
          </a:p>
        </p:txBody>
      </p:sp>
      <p:sp>
        <p:nvSpPr>
          <p:cNvPr id="269782485" name="Text 9"/>
          <p:cNvSpPr txBox="1"/>
          <p:nvPr/>
        </p:nvSpPr>
        <p:spPr bwMode="auto">
          <a:xfrm>
            <a:off x="960120" y="3520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Next.js (App Router) + TypeScript</a:t>
            </a:r>
            <a:endParaRPr lang="en-US" sz="115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Tailwind CSS, Framer Motion</a:t>
            </a:r>
            <a:endParaRPr lang="en-US" sz="115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React Three Fiber / Three.js for 3D</a:t>
            </a:r>
            <a:endParaRPr lang="en-US" sz="1150"/>
          </a:p>
        </p:txBody>
      </p:sp>
      <p:sp>
        <p:nvSpPr>
          <p:cNvPr id="1526478058" name="Shape 10"/>
          <p:cNvSpPr/>
          <p:nvPr/>
        </p:nvSpPr>
        <p:spPr bwMode="auto">
          <a:xfrm>
            <a:off x="3858768" y="3172968"/>
            <a:ext cx="649224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2D3EE"/>
          </a:solidFill>
          <a:ln/>
        </p:spPr>
      </p:sp>
      <p:sp>
        <p:nvSpPr>
          <p:cNvPr id="1293592762" name="Shape 11"/>
          <p:cNvSpPr/>
          <p:nvPr/>
        </p:nvSpPr>
        <p:spPr bwMode="auto">
          <a:xfrm>
            <a:off x="4617720" y="1920240"/>
            <a:ext cx="3063240" cy="2834640"/>
          </a:xfrm>
          <a:prstGeom prst="roundRect">
            <a:avLst>
              <a:gd name="adj" fmla="val 3871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937582568" name="Shape 12"/>
          <p:cNvSpPr/>
          <p:nvPr/>
        </p:nvSpPr>
        <p:spPr bwMode="auto">
          <a:xfrm>
            <a:off x="5783580" y="2240280"/>
            <a:ext cx="731520" cy="731520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1418890412" name="Image 1" descr="database_cya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48172" y="2404872"/>
            <a:ext cx="402336" cy="402336"/>
          </a:xfrm>
          <a:prstGeom prst="rect">
            <a:avLst/>
          </a:prstGeom>
        </p:spPr>
      </p:pic>
      <p:sp>
        <p:nvSpPr>
          <p:cNvPr id="129817216" name="Text 13"/>
          <p:cNvSpPr txBox="1"/>
          <p:nvPr/>
        </p:nvSpPr>
        <p:spPr bwMode="auto">
          <a:xfrm>
            <a:off x="461772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Backend</a:t>
            </a:r>
            <a:endParaRPr lang="en-US" sz="1600"/>
          </a:p>
        </p:txBody>
      </p:sp>
      <p:sp>
        <p:nvSpPr>
          <p:cNvPr id="602536679" name="Text 14"/>
          <p:cNvSpPr txBox="1"/>
          <p:nvPr/>
        </p:nvSpPr>
        <p:spPr bwMode="auto">
          <a:xfrm>
            <a:off x="4892039" y="3520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FastAPI (Python) + SQLAlchemy</a:t>
            </a:r>
            <a:endParaRPr lang="en-US" sz="115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SQLite, REST API</a:t>
            </a:r>
            <a:endParaRPr lang="en-US" sz="115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bcrypt authentication</a:t>
            </a:r>
            <a:endParaRPr lang="en-US" sz="1150"/>
          </a:p>
        </p:txBody>
      </p:sp>
      <p:sp>
        <p:nvSpPr>
          <p:cNvPr id="500761519" name="Shape 15"/>
          <p:cNvSpPr/>
          <p:nvPr/>
        </p:nvSpPr>
        <p:spPr bwMode="auto">
          <a:xfrm>
            <a:off x="7790687" y="3172968"/>
            <a:ext cx="649224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2D3EE"/>
          </a:solidFill>
          <a:ln/>
        </p:spPr>
      </p:sp>
      <p:sp>
        <p:nvSpPr>
          <p:cNvPr id="487345897" name="Shape 16"/>
          <p:cNvSpPr/>
          <p:nvPr/>
        </p:nvSpPr>
        <p:spPr bwMode="auto">
          <a:xfrm>
            <a:off x="8549640" y="1920240"/>
            <a:ext cx="3063240" cy="2834640"/>
          </a:xfrm>
          <a:prstGeom prst="roundRect">
            <a:avLst>
              <a:gd name="adj" fmla="val 3871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553203470" name="Shape 17"/>
          <p:cNvSpPr/>
          <p:nvPr/>
        </p:nvSpPr>
        <p:spPr bwMode="auto">
          <a:xfrm>
            <a:off x="9715500" y="2240280"/>
            <a:ext cx="731520" cy="731520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890885265" name="Image 2" descr="brain_cyan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880092" y="2404872"/>
            <a:ext cx="402336" cy="402336"/>
          </a:xfrm>
          <a:prstGeom prst="rect">
            <a:avLst/>
          </a:prstGeom>
        </p:spPr>
      </p:pic>
      <p:sp>
        <p:nvSpPr>
          <p:cNvPr id="126783233" name="Text 18"/>
          <p:cNvSpPr txBox="1"/>
          <p:nvPr/>
        </p:nvSpPr>
        <p:spPr bwMode="auto">
          <a:xfrm>
            <a:off x="854964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 Pipeline</a:t>
            </a:r>
            <a:endParaRPr lang="en-US" sz="1600"/>
          </a:p>
        </p:txBody>
      </p:sp>
      <p:sp>
        <p:nvSpPr>
          <p:cNvPr id="1227045354" name="Text 19"/>
          <p:cNvSpPr txBox="1"/>
          <p:nvPr/>
        </p:nvSpPr>
        <p:spPr bwMode="auto">
          <a:xfrm>
            <a:off x="8823960" y="3520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PyTorch, DenseNet-121 backbone</a:t>
            </a:r>
            <a:endParaRPr lang="en-US" sz="115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Transfer learning from ImageNet</a:t>
            </a:r>
            <a:endParaRPr lang="en-US" sz="115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Grad-CAM for explainability</a:t>
            </a:r>
            <a:endParaRPr lang="en-US" sz="1150"/>
          </a:p>
        </p:txBody>
      </p:sp>
      <p:sp>
        <p:nvSpPr>
          <p:cNvPr id="773080191" name="Shape 20"/>
          <p:cNvSpPr/>
          <p:nvPr/>
        </p:nvSpPr>
        <p:spPr bwMode="auto">
          <a:xfrm>
            <a:off x="685800" y="516636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0F1D3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473082234" name="Shape 21"/>
          <p:cNvSpPr/>
          <p:nvPr/>
        </p:nvSpPr>
        <p:spPr bwMode="auto">
          <a:xfrm>
            <a:off x="914400" y="5367528"/>
            <a:ext cx="566928" cy="566928"/>
          </a:xfrm>
          <a:prstGeom prst="ellipse">
            <a:avLst/>
          </a:prstGeom>
          <a:solidFill>
            <a:srgbClr val="1C2F58"/>
          </a:solidFill>
          <a:ln/>
        </p:spPr>
      </p:sp>
      <p:pic>
        <p:nvPicPr>
          <p:cNvPr id="647352841" name="Image 3" descr="docker_pink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41959" y="5495087"/>
            <a:ext cx="311810" cy="311810"/>
          </a:xfrm>
          <a:prstGeom prst="rect">
            <a:avLst/>
          </a:prstGeom>
        </p:spPr>
      </p:pic>
      <p:sp>
        <p:nvSpPr>
          <p:cNvPr id="295895764" name="Text 22"/>
          <p:cNvSpPr txBox="1"/>
          <p:nvPr/>
        </p:nvSpPr>
        <p:spPr bwMode="auto">
          <a:xfrm>
            <a:off x="1600200" y="5257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Deployment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Docker Compose — containerized frontend + backend</a:t>
            </a:r>
            <a:endParaRPr lang="en-US" sz="1300"/>
          </a:p>
        </p:txBody>
      </p:sp>
      <p:sp>
        <p:nvSpPr>
          <p:cNvPr id="1208626046" name="Shape 23"/>
          <p:cNvSpPr/>
          <p:nvPr/>
        </p:nvSpPr>
        <p:spPr bwMode="auto">
          <a:xfrm>
            <a:off x="5989320" y="516636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0F1D3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823710188" name="Shape 24"/>
          <p:cNvSpPr/>
          <p:nvPr/>
        </p:nvSpPr>
        <p:spPr bwMode="auto">
          <a:xfrm>
            <a:off x="6217920" y="5367528"/>
            <a:ext cx="566928" cy="566928"/>
          </a:xfrm>
          <a:prstGeom prst="ellipse">
            <a:avLst/>
          </a:prstGeom>
          <a:solidFill>
            <a:srgbClr val="1C2F58"/>
          </a:solidFill>
          <a:ln/>
        </p:spPr>
      </p:sp>
      <p:pic>
        <p:nvPicPr>
          <p:cNvPr id="1546089004" name="Image 4" descr="database_pink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345479" y="5495087"/>
            <a:ext cx="311810" cy="311810"/>
          </a:xfrm>
          <a:prstGeom prst="rect">
            <a:avLst/>
          </a:prstGeom>
        </p:spPr>
      </p:pic>
      <p:sp>
        <p:nvSpPr>
          <p:cNvPr id="2083206172" name="Text 25"/>
          <p:cNvSpPr txBox="1"/>
          <p:nvPr/>
        </p:nvSpPr>
        <p:spPr bwMode="auto">
          <a:xfrm>
            <a:off x="6903720" y="5257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NIH ChestX-ray14 — 112,120 images, 14 disease classes, multi-label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063673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04340923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sp>
        <p:nvSpPr>
          <p:cNvPr id="1136981221" name="Text 2"/>
          <p:cNvSpPr txBox="1"/>
          <p:nvPr/>
        </p:nvSpPr>
        <p:spPr bwMode="auto"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00" b="1" spc="2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HOW IT WORKS</a:t>
            </a:r>
            <a:endParaRPr lang="en-US" sz="1200"/>
          </a:p>
        </p:txBody>
      </p:sp>
      <p:sp>
        <p:nvSpPr>
          <p:cNvPr id="555728586" name="Text 3"/>
          <p:cNvSpPr txBox="1"/>
          <p:nvPr/>
        </p:nvSpPr>
        <p:spPr bwMode="auto"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3D Explainability Pipeline</a:t>
            </a:r>
            <a:endParaRPr lang="en-US" sz="3000"/>
          </a:p>
        </p:txBody>
      </p:sp>
      <p:sp>
        <p:nvSpPr>
          <p:cNvPr id="1529683779" name="Text 4"/>
          <p:cNvSpPr txBox="1"/>
          <p:nvPr/>
        </p:nvSpPr>
        <p:spPr bwMode="auto"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LungAI</a:t>
            </a:r>
            <a:endParaRPr lang="en-US" sz="1000"/>
          </a:p>
        </p:txBody>
      </p:sp>
      <p:sp>
        <p:nvSpPr>
          <p:cNvPr id="1732209769" name="Text 5"/>
          <p:cNvSpPr txBox="1"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  <p:sp>
        <p:nvSpPr>
          <p:cNvPr id="1958899426" name="Shape 6"/>
          <p:cNvSpPr/>
          <p:nvPr/>
        </p:nvSpPr>
        <p:spPr bwMode="auto">
          <a:xfrm>
            <a:off x="548640" y="210312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225163443" name="Shape 7"/>
          <p:cNvSpPr/>
          <p:nvPr/>
        </p:nvSpPr>
        <p:spPr bwMode="auto">
          <a:xfrm>
            <a:off x="1312164" y="1883664"/>
            <a:ext cx="438912" cy="438912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B1730"/>
            </a:solidFill>
            <a:prstDash val="solid"/>
          </a:ln>
        </p:spPr>
      </p:sp>
      <p:sp>
        <p:nvSpPr>
          <p:cNvPr id="1353311791" name="Text 8"/>
          <p:cNvSpPr txBox="1"/>
          <p:nvPr/>
        </p:nvSpPr>
        <p:spPr bwMode="auto">
          <a:xfrm>
            <a:off x="1312164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B1730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400"/>
          </a:p>
        </p:txBody>
      </p:sp>
      <p:sp>
        <p:nvSpPr>
          <p:cNvPr id="58445689" name="Shape 9"/>
          <p:cNvSpPr/>
          <p:nvPr/>
        </p:nvSpPr>
        <p:spPr bwMode="auto">
          <a:xfrm>
            <a:off x="1220724" y="2468880"/>
            <a:ext cx="621792" cy="621792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1395390366" name="Image 0" descr="xray_cya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60627" y="2608783"/>
            <a:ext cx="341986" cy="341986"/>
          </a:xfrm>
          <a:prstGeom prst="rect">
            <a:avLst/>
          </a:prstGeom>
        </p:spPr>
      </p:pic>
      <p:sp>
        <p:nvSpPr>
          <p:cNvPr id="2068286012" name="Text 10"/>
          <p:cNvSpPr txBox="1"/>
          <p:nvPr/>
        </p:nvSpPr>
        <p:spPr bwMode="auto">
          <a:xfrm>
            <a:off x="658368" y="329184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Upload</a:t>
            </a:r>
            <a:endParaRPr lang="en-US" sz="1300"/>
          </a:p>
        </p:txBody>
      </p:sp>
      <p:sp>
        <p:nvSpPr>
          <p:cNvPr id="1892045385" name="Text 11"/>
          <p:cNvSpPr txBox="1"/>
          <p:nvPr/>
        </p:nvSpPr>
        <p:spPr bwMode="auto">
          <a:xfrm>
            <a:off x="713232" y="3657600"/>
            <a:ext cx="163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Chest X-ray uploaded</a:t>
            </a:r>
            <a:endParaRPr lang="en-US" sz="1000"/>
          </a:p>
        </p:txBody>
      </p:sp>
      <p:sp>
        <p:nvSpPr>
          <p:cNvPr id="237288919" name="Shape 12"/>
          <p:cNvSpPr/>
          <p:nvPr/>
        </p:nvSpPr>
        <p:spPr bwMode="auto">
          <a:xfrm>
            <a:off x="2532888" y="3515868"/>
            <a:ext cx="182880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2D3EE"/>
          </a:solidFill>
          <a:ln/>
        </p:spPr>
      </p:sp>
      <p:sp>
        <p:nvSpPr>
          <p:cNvPr id="943902733" name="Shape 13"/>
          <p:cNvSpPr/>
          <p:nvPr/>
        </p:nvSpPr>
        <p:spPr bwMode="auto">
          <a:xfrm>
            <a:off x="2715768" y="210312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07798953" name="Shape 14"/>
          <p:cNvSpPr/>
          <p:nvPr/>
        </p:nvSpPr>
        <p:spPr bwMode="auto">
          <a:xfrm>
            <a:off x="3479292" y="1883664"/>
            <a:ext cx="438912" cy="438912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B1730"/>
            </a:solidFill>
            <a:prstDash val="solid"/>
          </a:ln>
        </p:spPr>
      </p:sp>
      <p:sp>
        <p:nvSpPr>
          <p:cNvPr id="451719422" name="Text 15"/>
          <p:cNvSpPr txBox="1"/>
          <p:nvPr/>
        </p:nvSpPr>
        <p:spPr bwMode="auto">
          <a:xfrm>
            <a:off x="3479292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B1730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400"/>
          </a:p>
        </p:txBody>
      </p:sp>
      <p:sp>
        <p:nvSpPr>
          <p:cNvPr id="447313618" name="Shape 16"/>
          <p:cNvSpPr/>
          <p:nvPr/>
        </p:nvSpPr>
        <p:spPr bwMode="auto">
          <a:xfrm>
            <a:off x="3387852" y="2468880"/>
            <a:ext cx="621792" cy="621792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889684397" name="Image 1" descr="brain_cya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27755" y="2608783"/>
            <a:ext cx="341986" cy="341986"/>
          </a:xfrm>
          <a:prstGeom prst="rect">
            <a:avLst/>
          </a:prstGeom>
        </p:spPr>
      </p:pic>
      <p:sp>
        <p:nvSpPr>
          <p:cNvPr id="1821996679" name="Text 17"/>
          <p:cNvSpPr txBox="1"/>
          <p:nvPr/>
        </p:nvSpPr>
        <p:spPr bwMode="auto">
          <a:xfrm>
            <a:off x="2825496" y="329184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Classify</a:t>
            </a:r>
            <a:endParaRPr lang="en-US" sz="1300"/>
          </a:p>
        </p:txBody>
      </p:sp>
      <p:sp>
        <p:nvSpPr>
          <p:cNvPr id="1134985644" name="Text 18"/>
          <p:cNvSpPr txBox="1"/>
          <p:nvPr/>
        </p:nvSpPr>
        <p:spPr bwMode="auto">
          <a:xfrm>
            <a:off x="2880360" y="3657600"/>
            <a:ext cx="163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DenseNet-121 classifies across 14 disease classes (multi-label)</a:t>
            </a:r>
            <a:endParaRPr lang="en-US" sz="1000"/>
          </a:p>
        </p:txBody>
      </p:sp>
      <p:sp>
        <p:nvSpPr>
          <p:cNvPr id="573046848" name="Shape 19"/>
          <p:cNvSpPr/>
          <p:nvPr/>
        </p:nvSpPr>
        <p:spPr bwMode="auto">
          <a:xfrm>
            <a:off x="4700016" y="3515868"/>
            <a:ext cx="182880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2D3EE"/>
          </a:solidFill>
          <a:ln/>
        </p:spPr>
      </p:sp>
      <p:sp>
        <p:nvSpPr>
          <p:cNvPr id="2004224806" name="Shape 20"/>
          <p:cNvSpPr/>
          <p:nvPr/>
        </p:nvSpPr>
        <p:spPr bwMode="auto">
          <a:xfrm>
            <a:off x="4882896" y="210312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328029530" name="Shape 21"/>
          <p:cNvSpPr/>
          <p:nvPr/>
        </p:nvSpPr>
        <p:spPr bwMode="auto">
          <a:xfrm>
            <a:off x="5646420" y="1883664"/>
            <a:ext cx="438912" cy="438912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B1730"/>
            </a:solidFill>
            <a:prstDash val="solid"/>
          </a:ln>
        </p:spPr>
      </p:sp>
      <p:sp>
        <p:nvSpPr>
          <p:cNvPr id="1664688386" name="Text 22"/>
          <p:cNvSpPr txBox="1"/>
          <p:nvPr/>
        </p:nvSpPr>
        <p:spPr bwMode="auto">
          <a:xfrm>
            <a:off x="5646420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B1730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400"/>
          </a:p>
        </p:txBody>
      </p:sp>
      <p:sp>
        <p:nvSpPr>
          <p:cNvPr id="473387493" name="Shape 23"/>
          <p:cNvSpPr/>
          <p:nvPr/>
        </p:nvSpPr>
        <p:spPr bwMode="auto">
          <a:xfrm>
            <a:off x="5554980" y="2468880"/>
            <a:ext cx="621792" cy="621792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1759264170" name="Image 2" descr="search_cyan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694883" y="2608783"/>
            <a:ext cx="341986" cy="341986"/>
          </a:xfrm>
          <a:prstGeom prst="rect">
            <a:avLst/>
          </a:prstGeom>
        </p:spPr>
      </p:pic>
      <p:sp>
        <p:nvSpPr>
          <p:cNvPr id="607552639" name="Text 24"/>
          <p:cNvSpPr txBox="1"/>
          <p:nvPr/>
        </p:nvSpPr>
        <p:spPr bwMode="auto">
          <a:xfrm>
            <a:off x="4992624" y="329184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Localize</a:t>
            </a:r>
            <a:endParaRPr lang="en-US" sz="1300"/>
          </a:p>
        </p:txBody>
      </p:sp>
      <p:sp>
        <p:nvSpPr>
          <p:cNvPr id="492387935" name="Text 25"/>
          <p:cNvSpPr txBox="1"/>
          <p:nvPr/>
        </p:nvSpPr>
        <p:spPr bwMode="auto">
          <a:xfrm>
            <a:off x="5047488" y="3657600"/>
            <a:ext cx="163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Grad-CAM generates a 2D activation heatmap for the top prediction</a:t>
            </a:r>
            <a:endParaRPr lang="en-US" sz="1000"/>
          </a:p>
        </p:txBody>
      </p:sp>
      <p:sp>
        <p:nvSpPr>
          <p:cNvPr id="1541471495" name="Shape 26"/>
          <p:cNvSpPr/>
          <p:nvPr/>
        </p:nvSpPr>
        <p:spPr bwMode="auto">
          <a:xfrm>
            <a:off x="6867144" y="3515868"/>
            <a:ext cx="182880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2D3EE"/>
          </a:solidFill>
          <a:ln/>
        </p:spPr>
      </p:sp>
      <p:sp>
        <p:nvSpPr>
          <p:cNvPr id="830660820" name="Shape 27"/>
          <p:cNvSpPr/>
          <p:nvPr/>
        </p:nvSpPr>
        <p:spPr bwMode="auto">
          <a:xfrm>
            <a:off x="7050024" y="210312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736772501" name="Shape 28"/>
          <p:cNvSpPr/>
          <p:nvPr/>
        </p:nvSpPr>
        <p:spPr bwMode="auto">
          <a:xfrm>
            <a:off x="7813548" y="1883664"/>
            <a:ext cx="438912" cy="438912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B1730"/>
            </a:solidFill>
            <a:prstDash val="solid"/>
          </a:ln>
        </p:spPr>
      </p:sp>
      <p:sp>
        <p:nvSpPr>
          <p:cNvPr id="1564256697" name="Text 29"/>
          <p:cNvSpPr txBox="1"/>
          <p:nvPr/>
        </p:nvSpPr>
        <p:spPr bwMode="auto">
          <a:xfrm>
            <a:off x="7813548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B1730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400"/>
          </a:p>
        </p:txBody>
      </p:sp>
      <p:sp>
        <p:nvSpPr>
          <p:cNvPr id="345278332" name="Shape 30"/>
          <p:cNvSpPr/>
          <p:nvPr/>
        </p:nvSpPr>
        <p:spPr bwMode="auto">
          <a:xfrm>
            <a:off x="7722107" y="2468880"/>
            <a:ext cx="621792" cy="621792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1902834978" name="Image 3" descr="layer_pink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862011" y="2608783"/>
            <a:ext cx="341986" cy="341986"/>
          </a:xfrm>
          <a:prstGeom prst="rect">
            <a:avLst/>
          </a:prstGeom>
        </p:spPr>
      </p:pic>
      <p:sp>
        <p:nvSpPr>
          <p:cNvPr id="283500002" name="Text 31"/>
          <p:cNvSpPr txBox="1"/>
          <p:nvPr/>
        </p:nvSpPr>
        <p:spPr bwMode="auto">
          <a:xfrm>
            <a:off x="7159752" y="329184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Map</a:t>
            </a:r>
            <a:endParaRPr lang="en-US" sz="1300"/>
          </a:p>
        </p:txBody>
      </p:sp>
      <p:sp>
        <p:nvSpPr>
          <p:cNvPr id="1267251027" name="Text 32"/>
          <p:cNvSpPr txBox="1"/>
          <p:nvPr/>
        </p:nvSpPr>
        <p:spPr bwMode="auto">
          <a:xfrm>
            <a:off x="7214616" y="3657600"/>
            <a:ext cx="163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Activation centroid mapped to 1 of 6 anatomical zones (L/R × upper/mid/lower)</a:t>
            </a:r>
            <a:endParaRPr lang="en-US" sz="1000"/>
          </a:p>
        </p:txBody>
      </p:sp>
      <p:sp>
        <p:nvSpPr>
          <p:cNvPr id="1702897953" name="Shape 33"/>
          <p:cNvSpPr/>
          <p:nvPr/>
        </p:nvSpPr>
        <p:spPr bwMode="auto">
          <a:xfrm>
            <a:off x="9034272" y="3515868"/>
            <a:ext cx="182880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2D3EE"/>
          </a:solidFill>
          <a:ln/>
        </p:spPr>
      </p:sp>
      <p:sp>
        <p:nvSpPr>
          <p:cNvPr id="429928704" name="Shape 34"/>
          <p:cNvSpPr/>
          <p:nvPr/>
        </p:nvSpPr>
        <p:spPr bwMode="auto">
          <a:xfrm>
            <a:off x="9217152" y="210312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196706170" name="Shape 35"/>
          <p:cNvSpPr/>
          <p:nvPr/>
        </p:nvSpPr>
        <p:spPr bwMode="auto">
          <a:xfrm>
            <a:off x="9980676" y="1883664"/>
            <a:ext cx="438912" cy="438912"/>
          </a:xfrm>
          <a:prstGeom prst="ellipse">
            <a:avLst/>
          </a:prstGeom>
          <a:solidFill>
            <a:srgbClr val="F472B6"/>
          </a:solidFill>
          <a:ln w="25400">
            <a:solidFill>
              <a:srgbClr val="0B1730"/>
            </a:solidFill>
            <a:prstDash val="solid"/>
          </a:ln>
        </p:spPr>
      </p:sp>
      <p:sp>
        <p:nvSpPr>
          <p:cNvPr id="96649343" name="Text 36"/>
          <p:cNvSpPr txBox="1"/>
          <p:nvPr/>
        </p:nvSpPr>
        <p:spPr bwMode="auto">
          <a:xfrm>
            <a:off x="9980676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B1730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400"/>
          </a:p>
        </p:txBody>
      </p:sp>
      <p:sp>
        <p:nvSpPr>
          <p:cNvPr id="1766760737" name="Shape 37"/>
          <p:cNvSpPr/>
          <p:nvPr/>
        </p:nvSpPr>
        <p:spPr bwMode="auto">
          <a:xfrm>
            <a:off x="9889236" y="2468880"/>
            <a:ext cx="621792" cy="621792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1531336849" name="Image 4" descr="cube_pink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0029139" y="2608783"/>
            <a:ext cx="341986" cy="341986"/>
          </a:xfrm>
          <a:prstGeom prst="rect">
            <a:avLst/>
          </a:prstGeom>
        </p:spPr>
      </p:pic>
      <p:sp>
        <p:nvSpPr>
          <p:cNvPr id="528180915" name="Text 38"/>
          <p:cNvSpPr txBox="1"/>
          <p:nvPr/>
        </p:nvSpPr>
        <p:spPr bwMode="auto">
          <a:xfrm>
            <a:off x="9326880" y="329184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Render</a:t>
            </a:r>
            <a:endParaRPr lang="en-US" sz="1300"/>
          </a:p>
        </p:txBody>
      </p:sp>
      <p:sp>
        <p:nvSpPr>
          <p:cNvPr id="275651899" name="Text 39"/>
          <p:cNvSpPr txBox="1"/>
          <p:nvPr/>
        </p:nvSpPr>
        <p:spPr bwMode="auto">
          <a:xfrm>
            <a:off x="9381744" y="3657600"/>
            <a:ext cx="163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Zone rendered as an interactive 3D marker with an explorable annotation</a:t>
            </a:r>
            <a:endParaRPr lang="en-US" sz="1000"/>
          </a:p>
        </p:txBody>
      </p:sp>
      <p:sp>
        <p:nvSpPr>
          <p:cNvPr id="1639508866" name="Shape 40"/>
          <p:cNvSpPr/>
          <p:nvPr/>
        </p:nvSpPr>
        <p:spPr bwMode="auto">
          <a:xfrm>
            <a:off x="548640" y="548640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F1D3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261949221" name="Text 41"/>
          <p:cNvSpPr txBox="1"/>
          <p:nvPr/>
        </p:nvSpPr>
        <p:spPr bwMode="auto">
          <a:xfrm>
            <a:off x="822960" y="54864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Result: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clinician doesn't just see where the model looked — they see it placed in 3D anatomical space, and can explore it.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367017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1300766453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sp>
        <p:nvSpPr>
          <p:cNvPr id="1594118191" name="Text 3"/>
          <p:cNvSpPr txBox="1"/>
          <p:nvPr/>
        </p:nvSpPr>
        <p:spPr bwMode="auto">
          <a:xfrm>
            <a:off x="346233" y="292607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Interface</a:t>
            </a:r>
            <a:endParaRPr lang="en-US" sz="3000"/>
          </a:p>
        </p:txBody>
      </p:sp>
      <p:sp>
        <p:nvSpPr>
          <p:cNvPr id="1422625363" name="Text 5"/>
          <p:cNvSpPr txBox="1"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  <p:pic>
        <p:nvPicPr>
          <p:cNvPr id="17363845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0"/>
            <a:ext cx="12191999" cy="6869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569057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26963921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sp>
        <p:nvSpPr>
          <p:cNvPr id="124942726" name="Text 2"/>
          <p:cNvSpPr txBox="1"/>
          <p:nvPr/>
        </p:nvSpPr>
        <p:spPr bwMode="auto"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endParaRPr lang="en-US" sz="1200"/>
          </a:p>
        </p:txBody>
      </p:sp>
      <p:sp>
        <p:nvSpPr>
          <p:cNvPr id="1190844220" name="Text 3"/>
          <p:cNvSpPr txBox="1"/>
          <p:nvPr/>
        </p:nvSpPr>
        <p:spPr bwMode="auto">
          <a:xfrm>
            <a:off x="215264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Results</a:t>
            </a:r>
            <a:endParaRPr lang="en-US" sz="3000"/>
          </a:p>
        </p:txBody>
      </p:sp>
      <p:sp>
        <p:nvSpPr>
          <p:cNvPr id="1014196903" name="Text 4"/>
          <p:cNvSpPr txBox="1"/>
          <p:nvPr/>
        </p:nvSpPr>
        <p:spPr bwMode="auto"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LungAI</a:t>
            </a:r>
            <a:endParaRPr lang="en-US" sz="1000"/>
          </a:p>
        </p:txBody>
      </p:sp>
      <p:sp>
        <p:nvSpPr>
          <p:cNvPr id="227095976" name="Text 5"/>
          <p:cNvSpPr txBox="1"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/>
          </a:p>
        </p:txBody>
      </p:sp>
      <p:pic>
        <p:nvPicPr>
          <p:cNvPr id="4310816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84458" y="1022032"/>
            <a:ext cx="9524999" cy="2452687"/>
          </a:xfrm>
          <a:prstGeom prst="rect">
            <a:avLst/>
          </a:prstGeom>
        </p:spPr>
      </p:pic>
      <p:pic>
        <p:nvPicPr>
          <p:cNvPr id="42467581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451867" y="3699558"/>
            <a:ext cx="7166343" cy="2982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312653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2038696238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sp>
        <p:nvSpPr>
          <p:cNvPr id="83790404" name="Text 2"/>
          <p:cNvSpPr txBox="1"/>
          <p:nvPr/>
        </p:nvSpPr>
        <p:spPr bwMode="auto"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endParaRPr lang="en-US" sz="1200"/>
          </a:p>
        </p:txBody>
      </p:sp>
      <p:sp>
        <p:nvSpPr>
          <p:cNvPr id="97802982" name="Text 3"/>
          <p:cNvSpPr txBox="1"/>
          <p:nvPr/>
        </p:nvSpPr>
        <p:spPr bwMode="auto"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Limitations</a:t>
            </a:r>
            <a:endParaRPr lang="en-US" sz="3000"/>
          </a:p>
        </p:txBody>
      </p:sp>
      <p:sp>
        <p:nvSpPr>
          <p:cNvPr id="576370587" name="Text 4"/>
          <p:cNvSpPr txBox="1"/>
          <p:nvPr/>
        </p:nvSpPr>
        <p:spPr bwMode="auto"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LungAI</a:t>
            </a:r>
            <a:endParaRPr lang="en-US" sz="1000"/>
          </a:p>
        </p:txBody>
      </p:sp>
      <p:sp>
        <p:nvSpPr>
          <p:cNvPr id="772256099" name="Text 5"/>
          <p:cNvSpPr txBox="1"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000"/>
          </a:p>
        </p:txBody>
      </p:sp>
      <p:sp>
        <p:nvSpPr>
          <p:cNvPr id="455901098" name="Shape 6"/>
          <p:cNvSpPr/>
          <p:nvPr/>
        </p:nvSpPr>
        <p:spPr bwMode="auto">
          <a:xfrm>
            <a:off x="548640" y="16459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456700591" name="Shape 7"/>
          <p:cNvSpPr/>
          <p:nvPr/>
        </p:nvSpPr>
        <p:spPr bwMode="auto">
          <a:xfrm>
            <a:off x="822960" y="1920240"/>
            <a:ext cx="566928" cy="566928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1593260147" name="Image 0" descr="cube_pink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50519" y="2047799"/>
            <a:ext cx="311810" cy="311810"/>
          </a:xfrm>
          <a:prstGeom prst="rect">
            <a:avLst/>
          </a:prstGeom>
        </p:spPr>
      </p:pic>
      <p:sp>
        <p:nvSpPr>
          <p:cNvPr id="770927849" name="Text 8"/>
          <p:cNvSpPr txBox="1"/>
          <p:nvPr/>
        </p:nvSpPr>
        <p:spPr bwMode="auto">
          <a:xfrm>
            <a:off x="1554480" y="19019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Schematic, not patient-specific</a:t>
            </a:r>
            <a:endParaRPr lang="en-US" sz="1350"/>
          </a:p>
        </p:txBody>
      </p:sp>
      <p:sp>
        <p:nvSpPr>
          <p:cNvPr id="71118072" name="Text 9"/>
          <p:cNvSpPr txBox="1"/>
          <p:nvPr/>
        </p:nvSpPr>
        <p:spPr bwMode="auto">
          <a:xfrm>
            <a:off x="822960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The 3D lung model is a schematic anatomical reference, not a patient-specific volumetric reconstruction.</a:t>
            </a:r>
            <a:endParaRPr lang="en-US" sz="1150"/>
          </a:p>
        </p:txBody>
      </p:sp>
      <p:sp>
        <p:nvSpPr>
          <p:cNvPr id="1650237845" name="Shape 10"/>
          <p:cNvSpPr/>
          <p:nvPr/>
        </p:nvSpPr>
        <p:spPr bwMode="auto">
          <a:xfrm>
            <a:off x="6291072" y="16459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415683863" name="Shape 11"/>
          <p:cNvSpPr/>
          <p:nvPr/>
        </p:nvSpPr>
        <p:spPr bwMode="auto">
          <a:xfrm>
            <a:off x="6565392" y="1920240"/>
            <a:ext cx="566928" cy="566928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2132739528" name="Image 1" descr="chart_pink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92951" y="2047799"/>
            <a:ext cx="311810" cy="311810"/>
          </a:xfrm>
          <a:prstGeom prst="rect">
            <a:avLst/>
          </a:prstGeom>
        </p:spPr>
      </p:pic>
      <p:sp>
        <p:nvSpPr>
          <p:cNvPr id="1695888549" name="Text 12"/>
          <p:cNvSpPr txBox="1"/>
          <p:nvPr/>
        </p:nvSpPr>
        <p:spPr bwMode="auto">
          <a:xfrm>
            <a:off x="7296912" y="19019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Single train/val/test split</a:t>
            </a:r>
            <a:endParaRPr lang="en-US" sz="1350"/>
          </a:p>
        </p:txBody>
      </p:sp>
      <p:sp>
        <p:nvSpPr>
          <p:cNvPr id="1508385474" name="Text 13"/>
          <p:cNvSpPr txBox="1"/>
          <p:nvPr/>
        </p:nvSpPr>
        <p:spPr bwMode="auto">
          <a:xfrm>
            <a:off x="6565392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Matches the baseline papers being compared against, but is not k-fold cross-validation or multi-seed averaging, due to compute constraints on free-tier hardware.</a:t>
            </a:r>
            <a:endParaRPr lang="en-US" sz="1150"/>
          </a:p>
        </p:txBody>
      </p:sp>
      <p:sp>
        <p:nvSpPr>
          <p:cNvPr id="346346886" name="Shape 14"/>
          <p:cNvSpPr/>
          <p:nvPr/>
        </p:nvSpPr>
        <p:spPr bwMode="auto">
          <a:xfrm>
            <a:off x="548640" y="40690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939675694" name="Shape 15"/>
          <p:cNvSpPr/>
          <p:nvPr/>
        </p:nvSpPr>
        <p:spPr bwMode="auto">
          <a:xfrm>
            <a:off x="822960" y="4343400"/>
            <a:ext cx="566928" cy="566928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1374210704" name="Image 2" descr="usermd_pink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50519" y="4470959"/>
            <a:ext cx="311810" cy="311810"/>
          </a:xfrm>
          <a:prstGeom prst="rect">
            <a:avLst/>
          </a:prstGeom>
        </p:spPr>
      </p:pic>
      <p:sp>
        <p:nvSpPr>
          <p:cNvPr id="1630582717" name="Text 16"/>
          <p:cNvSpPr txBox="1"/>
          <p:nvPr/>
        </p:nvSpPr>
        <p:spPr bwMode="auto">
          <a:xfrm>
            <a:off x="1554480" y="432511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clinician usability study yet</a:t>
            </a:r>
            <a:endParaRPr lang="en-US" sz="1350"/>
          </a:p>
        </p:txBody>
      </p:sp>
      <p:sp>
        <p:nvSpPr>
          <p:cNvPr id="1508926766" name="Text 17"/>
          <p:cNvSpPr txBox="1"/>
          <p:nvPr/>
        </p:nvSpPr>
        <p:spPr bwMode="auto">
          <a:xfrm>
            <a:off x="822960" y="50749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No formal study yet comparing the 3D interface to flat 2D heatmaps.</a:t>
            </a:r>
            <a:endParaRPr lang="en-US" sz="1150"/>
          </a:p>
        </p:txBody>
      </p:sp>
      <p:sp>
        <p:nvSpPr>
          <p:cNvPr id="1829928941" name="Shape 18"/>
          <p:cNvSpPr/>
          <p:nvPr/>
        </p:nvSpPr>
        <p:spPr bwMode="auto">
          <a:xfrm>
            <a:off x="6291072" y="40690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809118613" name="Shape 19"/>
          <p:cNvSpPr/>
          <p:nvPr/>
        </p:nvSpPr>
        <p:spPr bwMode="auto">
          <a:xfrm>
            <a:off x="6565392" y="4343400"/>
            <a:ext cx="566928" cy="566928"/>
          </a:xfrm>
          <a:prstGeom prst="ellipse">
            <a:avLst/>
          </a:prstGeom>
          <a:solidFill>
            <a:srgbClr val="0F1D3A"/>
          </a:solidFill>
          <a:ln/>
        </p:spPr>
      </p:sp>
      <p:pic>
        <p:nvPicPr>
          <p:cNvPr id="1647146772" name="Image 3" descr="flask_pink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692951" y="4470959"/>
            <a:ext cx="311810" cy="311810"/>
          </a:xfrm>
          <a:prstGeom prst="rect">
            <a:avLst/>
          </a:prstGeom>
        </p:spPr>
      </p:pic>
      <p:sp>
        <p:nvSpPr>
          <p:cNvPr id="769099985" name="Text 20"/>
          <p:cNvSpPr txBox="1"/>
          <p:nvPr/>
        </p:nvSpPr>
        <p:spPr bwMode="auto">
          <a:xfrm>
            <a:off x="7296912" y="432511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 / portfolio prototype</a:t>
            </a:r>
            <a:endParaRPr lang="en-US" sz="1350"/>
          </a:p>
        </p:txBody>
      </p:sp>
      <p:sp>
        <p:nvSpPr>
          <p:cNvPr id="1978972672" name="Text 21"/>
          <p:cNvSpPr txBox="1"/>
          <p:nvPr/>
        </p:nvSpPr>
        <p:spPr bwMode="auto">
          <a:xfrm>
            <a:off x="6565392" y="50749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9FB1CE"/>
                </a:solidFill>
                <a:latin typeface="Calibri"/>
                <a:ea typeface="Calibri"/>
                <a:cs typeface="Calibri"/>
              </a:rPr>
              <a:t>Explicitly not intended for real clinical diagnostic use.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063322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1998169429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sp>
        <p:nvSpPr>
          <p:cNvPr id="952504588" name="Text 2"/>
          <p:cNvSpPr txBox="1"/>
          <p:nvPr/>
        </p:nvSpPr>
        <p:spPr bwMode="auto"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endParaRPr lang="en-US" sz="1200"/>
          </a:p>
        </p:txBody>
      </p:sp>
      <p:sp>
        <p:nvSpPr>
          <p:cNvPr id="1017821274" name="Text 3"/>
          <p:cNvSpPr txBox="1"/>
          <p:nvPr/>
        </p:nvSpPr>
        <p:spPr bwMode="auto"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Work</a:t>
            </a:r>
            <a:endParaRPr lang="en-US" sz="3000"/>
          </a:p>
        </p:txBody>
      </p:sp>
      <p:sp>
        <p:nvSpPr>
          <p:cNvPr id="1319587153" name="Text 4"/>
          <p:cNvSpPr txBox="1"/>
          <p:nvPr/>
        </p:nvSpPr>
        <p:spPr bwMode="auto"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LungAI</a:t>
            </a:r>
            <a:endParaRPr lang="en-US" sz="1000"/>
          </a:p>
        </p:txBody>
      </p:sp>
      <p:sp>
        <p:nvSpPr>
          <p:cNvPr id="43991846" name="Text 5"/>
          <p:cNvSpPr txBox="1"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1000"/>
          </a:p>
        </p:txBody>
      </p:sp>
      <p:sp>
        <p:nvSpPr>
          <p:cNvPr id="1887245848" name="Shape 6"/>
          <p:cNvSpPr/>
          <p:nvPr/>
        </p:nvSpPr>
        <p:spPr bwMode="auto">
          <a:xfrm>
            <a:off x="548640" y="173736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</p:spPr>
      </p:sp>
      <p:sp>
        <p:nvSpPr>
          <p:cNvPr id="1060078688" name="Shape 7"/>
          <p:cNvSpPr/>
          <p:nvPr/>
        </p:nvSpPr>
        <p:spPr bwMode="auto">
          <a:xfrm>
            <a:off x="777240" y="190195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10814102" name="Text 8"/>
          <p:cNvSpPr txBox="1"/>
          <p:nvPr/>
        </p:nvSpPr>
        <p:spPr bwMode="auto">
          <a:xfrm>
            <a:off x="77724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B1730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500"/>
          </a:p>
        </p:txBody>
      </p:sp>
      <p:sp>
        <p:nvSpPr>
          <p:cNvPr id="2061179389" name="Text 9"/>
          <p:cNvSpPr txBox="1"/>
          <p:nvPr/>
        </p:nvSpPr>
        <p:spPr bwMode="auto">
          <a:xfrm>
            <a:off x="1417320" y="173736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Multi-seed statistical validation of the reported result</a:t>
            </a:r>
            <a:endParaRPr lang="en-US" sz="1350"/>
          </a:p>
        </p:txBody>
      </p:sp>
      <p:sp>
        <p:nvSpPr>
          <p:cNvPr id="1113160329" name="Shape 10"/>
          <p:cNvSpPr/>
          <p:nvPr/>
        </p:nvSpPr>
        <p:spPr bwMode="auto">
          <a:xfrm>
            <a:off x="548640" y="2633472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0F1D3A"/>
          </a:solidFill>
          <a:ln w="12700">
            <a:solidFill>
              <a:srgbClr val="1C2F58"/>
            </a:solidFill>
            <a:prstDash val="solid"/>
          </a:ln>
        </p:spPr>
      </p:sp>
      <p:sp>
        <p:nvSpPr>
          <p:cNvPr id="708003881" name="Shape 11"/>
          <p:cNvSpPr/>
          <p:nvPr/>
        </p:nvSpPr>
        <p:spPr bwMode="auto">
          <a:xfrm>
            <a:off x="777240" y="279806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17344870" name="Text 12"/>
          <p:cNvSpPr txBox="1"/>
          <p:nvPr/>
        </p:nvSpPr>
        <p:spPr bwMode="auto">
          <a:xfrm>
            <a:off x="777240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B1730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500"/>
          </a:p>
        </p:txBody>
      </p:sp>
      <p:sp>
        <p:nvSpPr>
          <p:cNvPr id="24860218" name="Text 13"/>
          <p:cNvSpPr txBox="1"/>
          <p:nvPr/>
        </p:nvSpPr>
        <p:spPr bwMode="auto">
          <a:xfrm>
            <a:off x="1417320" y="2633472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Clinician usability study comparing 3D-referenced explanation vs. flat 2D heatmap</a:t>
            </a:r>
            <a:endParaRPr lang="en-US" sz="1350"/>
          </a:p>
        </p:txBody>
      </p:sp>
      <p:sp>
        <p:nvSpPr>
          <p:cNvPr id="114393811" name="Shape 14"/>
          <p:cNvSpPr/>
          <p:nvPr/>
        </p:nvSpPr>
        <p:spPr bwMode="auto">
          <a:xfrm>
            <a:off x="548640" y="3529584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</p:spPr>
      </p:sp>
      <p:sp>
        <p:nvSpPr>
          <p:cNvPr id="726113887" name="Shape 15"/>
          <p:cNvSpPr/>
          <p:nvPr/>
        </p:nvSpPr>
        <p:spPr bwMode="auto">
          <a:xfrm>
            <a:off x="777240" y="3694176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81329571" name="Text 16"/>
          <p:cNvSpPr txBox="1"/>
          <p:nvPr/>
        </p:nvSpPr>
        <p:spPr bwMode="auto">
          <a:xfrm>
            <a:off x="777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B1730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500"/>
          </a:p>
        </p:txBody>
      </p:sp>
      <p:sp>
        <p:nvSpPr>
          <p:cNvPr id="1984170458" name="Text 17"/>
          <p:cNvSpPr txBox="1"/>
          <p:nvPr/>
        </p:nvSpPr>
        <p:spPr bwMode="auto">
          <a:xfrm>
            <a:off x="1417320" y="3529584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Independent reproduction of baseline methods for a strictly controlled comparison</a:t>
            </a:r>
            <a:endParaRPr lang="en-US" sz="1350"/>
          </a:p>
        </p:txBody>
      </p:sp>
      <p:sp>
        <p:nvSpPr>
          <p:cNvPr id="437821843" name="Shape 18"/>
          <p:cNvSpPr/>
          <p:nvPr/>
        </p:nvSpPr>
        <p:spPr bwMode="auto">
          <a:xfrm>
            <a:off x="548640" y="4425696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0F1D3A"/>
          </a:solidFill>
          <a:ln w="12700">
            <a:solidFill>
              <a:srgbClr val="1C2F58"/>
            </a:solidFill>
            <a:prstDash val="solid"/>
          </a:ln>
        </p:spPr>
      </p:sp>
      <p:sp>
        <p:nvSpPr>
          <p:cNvPr id="342007090" name="Shape 19"/>
          <p:cNvSpPr/>
          <p:nvPr/>
        </p:nvSpPr>
        <p:spPr bwMode="auto">
          <a:xfrm>
            <a:off x="777240" y="4590288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4138457" name="Text 20"/>
          <p:cNvSpPr txBox="1"/>
          <p:nvPr/>
        </p:nvSpPr>
        <p:spPr bwMode="auto">
          <a:xfrm>
            <a:off x="777240" y="4590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B1730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500"/>
          </a:p>
        </p:txBody>
      </p:sp>
      <p:sp>
        <p:nvSpPr>
          <p:cNvPr id="500208870" name="Text 21"/>
          <p:cNvSpPr txBox="1"/>
          <p:nvPr/>
        </p:nvSpPr>
        <p:spPr bwMode="auto">
          <a:xfrm>
            <a:off x="1417320" y="4425696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Refine 2D-to-3D zone mapping precision (e.g. via lung-field segmentation)</a:t>
            </a:r>
            <a:endParaRPr lang="en-US" sz="1350"/>
          </a:p>
        </p:txBody>
      </p:sp>
      <p:sp>
        <p:nvSpPr>
          <p:cNvPr id="245725084" name="Shape 22"/>
          <p:cNvSpPr/>
          <p:nvPr/>
        </p:nvSpPr>
        <p:spPr bwMode="auto">
          <a:xfrm>
            <a:off x="548640" y="5321808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16274A"/>
          </a:solidFill>
          <a:ln w="12700">
            <a:solidFill>
              <a:srgbClr val="1C2F58"/>
            </a:solidFill>
            <a:prstDash val="solid"/>
          </a:ln>
        </p:spPr>
      </p:sp>
      <p:sp>
        <p:nvSpPr>
          <p:cNvPr id="467596047" name="Shape 23"/>
          <p:cNvSpPr/>
          <p:nvPr/>
        </p:nvSpPr>
        <p:spPr bwMode="auto">
          <a:xfrm>
            <a:off x="777240" y="548640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79154722" name="Text 24"/>
          <p:cNvSpPr txBox="1"/>
          <p:nvPr/>
        </p:nvSpPr>
        <p:spPr bwMode="auto">
          <a:xfrm>
            <a:off x="777240" y="5486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B1730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500"/>
          </a:p>
        </p:txBody>
      </p:sp>
      <p:sp>
        <p:nvSpPr>
          <p:cNvPr id="1747594742" name="Text 25"/>
          <p:cNvSpPr txBox="1"/>
          <p:nvPr/>
        </p:nvSpPr>
        <p:spPr bwMode="auto">
          <a:xfrm>
            <a:off x="1417320" y="5321808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 anatomically-accurate 3D lung geometry (current version is a stylized placeholder)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573929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941640408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sp>
        <p:nvSpPr>
          <p:cNvPr id="975056030" name="Text 2"/>
          <p:cNvSpPr txBox="1"/>
          <p:nvPr/>
        </p:nvSpPr>
        <p:spPr bwMode="auto"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endParaRPr lang="en-US" sz="1200"/>
          </a:p>
        </p:txBody>
      </p:sp>
      <p:sp>
        <p:nvSpPr>
          <p:cNvPr id="383592936" name="Text 3"/>
          <p:cNvSpPr txBox="1"/>
          <p:nvPr/>
        </p:nvSpPr>
        <p:spPr bwMode="auto"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3000"/>
          </a:p>
        </p:txBody>
      </p:sp>
      <p:sp>
        <p:nvSpPr>
          <p:cNvPr id="525164404" name="Text 4"/>
          <p:cNvSpPr txBox="1"/>
          <p:nvPr/>
        </p:nvSpPr>
        <p:spPr bwMode="auto"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LungAI</a:t>
            </a:r>
            <a:endParaRPr lang="en-US" sz="1000"/>
          </a:p>
        </p:txBody>
      </p:sp>
      <p:sp>
        <p:nvSpPr>
          <p:cNvPr id="1418761076" name="Text 5"/>
          <p:cNvSpPr txBox="1"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1000"/>
          </a:p>
        </p:txBody>
      </p:sp>
      <p:sp>
        <p:nvSpPr>
          <p:cNvPr id="282689695" name="Shape 6"/>
          <p:cNvSpPr/>
          <p:nvPr/>
        </p:nvSpPr>
        <p:spPr bwMode="auto">
          <a:xfrm>
            <a:off x="548640" y="1783080"/>
            <a:ext cx="11091672" cy="4343400"/>
          </a:xfrm>
          <a:prstGeom prst="roundRect">
            <a:avLst>
              <a:gd name="adj" fmla="val 2526"/>
            </a:avLst>
          </a:prstGeom>
          <a:solidFill>
            <a:srgbClr val="0F1D3A"/>
          </a:solidFill>
          <a:ln w="12700">
            <a:solidFill>
              <a:srgbClr val="1C2F58"/>
            </a:solidFill>
            <a:prstDash val="solid"/>
          </a:ln>
          <a:effectLst>
            <a:outerShdw blurRad="152400" dist="381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sp>
        <p:nvSpPr>
          <p:cNvPr id="1065435081" name="Text 7"/>
          <p:cNvSpPr txBox="1"/>
          <p:nvPr/>
        </p:nvSpPr>
        <p:spPr bwMode="auto">
          <a:xfrm>
            <a:off x="914400" y="2011680"/>
            <a:ext cx="103784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  <a:defRPr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LungAI demonstrates that spatial, interactive 3D explainability for a standard 2D chest X-ray classifier is technically feasible — and can be integrated into a complete, real clinical workstation interface, addressing a genuine, currently unoccupied gap between saturated 2D Grad-CAM literature and CT-dependent 3D visualization tools.</a:t>
            </a:r>
            <a:endParaRPr lang="en-US" sz="1800"/>
          </a:p>
          <a:p>
            <a:pPr marL="0" indent="0">
              <a:lnSpc>
                <a:spcPct val="140000"/>
              </a:lnSpc>
              <a:buNone/>
              <a:defRPr/>
            </a:pPr>
            <a:endParaRPr lang="en-US" sz="1800"/>
          </a:p>
          <a:p>
            <a:pPr marL="0" indent="0">
              <a:lnSpc>
                <a:spcPct val="140000"/>
              </a:lnSpc>
              <a:buNone/>
              <a:defRPr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trained classifier achieves a macro-averaged test AUROC of </a:t>
            </a:r>
            <a:r>
              <a:rPr lang="en-US" sz="18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0.8318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comparable to established literature baselines.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0B173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314787" name="Shape 0"/>
          <p:cNvSpPr/>
          <p:nvPr/>
        </p:nvSpPr>
        <p:spPr bwMode="auto">
          <a:xfrm>
            <a:off x="9262872" y="-201168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165080251" name="Shape 1"/>
          <p:cNvSpPr/>
          <p:nvPr/>
        </p:nvSpPr>
        <p:spPr bwMode="auto">
          <a:xfrm>
            <a:off x="-2377440" y="4114800"/>
            <a:ext cx="4754880" cy="475488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</p:sp>
      <p:sp>
        <p:nvSpPr>
          <p:cNvPr id="1864245381" name="Text 2"/>
          <p:cNvSpPr txBox="1"/>
          <p:nvPr/>
        </p:nvSpPr>
        <p:spPr bwMode="auto">
          <a:xfrm>
            <a:off x="0" y="29260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</a:t>
            </a:r>
            <a:endParaRPr lang="en-US" sz="5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2026-09-20T16:01:01Z</dcterms:created>
  <dcterms:modified xsi:type="dcterms:W3CDTF">2026-09-20T16:42:14Z</dcterms:modified>
</cp:coreProperties>
</file>