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83" r:id="rId3"/>
    <p:sldId id="284" r:id="rId4"/>
    <p:sldId id="287" r:id="rId5"/>
    <p:sldId id="288" r:id="rId6"/>
    <p:sldId id="289" r:id="rId7"/>
    <p:sldId id="306" r:id="rId8"/>
    <p:sldId id="328" r:id="rId9"/>
    <p:sldId id="302" r:id="rId10"/>
    <p:sldId id="315" r:id="rId11"/>
    <p:sldId id="345" r:id="rId12"/>
    <p:sldId id="346" r:id="rId13"/>
    <p:sldId id="347" r:id="rId14"/>
    <p:sldId id="348" r:id="rId15"/>
    <p:sldId id="349" r:id="rId16"/>
    <p:sldId id="350" r:id="rId17"/>
    <p:sldId id="351" r:id="rId18"/>
    <p:sldId id="352" r:id="rId19"/>
    <p:sldId id="329" r:id="rId20"/>
    <p:sldId id="333" r:id="rId21"/>
    <p:sldId id="334" r:id="rId22"/>
    <p:sldId id="335" r:id="rId23"/>
    <p:sldId id="336" r:id="rId24"/>
    <p:sldId id="337" r:id="rId25"/>
    <p:sldId id="338" r:id="rId26"/>
    <p:sldId id="339" r:id="rId27"/>
    <p:sldId id="340" r:id="rId28"/>
    <p:sldId id="341" r:id="rId29"/>
    <p:sldId id="342" r:id="rId30"/>
    <p:sldId id="343" r:id="rId31"/>
    <p:sldId id="344" r:id="rId32"/>
    <p:sldId id="316" r:id="rId33"/>
    <p:sldId id="317" r:id="rId34"/>
    <p:sldId id="318" r:id="rId35"/>
    <p:sldId id="304" r:id="rId36"/>
    <p:sldId id="330" r:id="rId37"/>
    <p:sldId id="290" r:id="rId38"/>
    <p:sldId id="319" r:id="rId39"/>
    <p:sldId id="320" r:id="rId40"/>
    <p:sldId id="321" r:id="rId41"/>
    <p:sldId id="322" r:id="rId42"/>
    <p:sldId id="323" r:id="rId43"/>
    <p:sldId id="291" r:id="rId44"/>
    <p:sldId id="331" r:id="rId45"/>
    <p:sldId id="332" r:id="rId46"/>
    <p:sldId id="295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94E91"/>
    <a:srgbClr val="FFFFFF"/>
    <a:srgbClr val="D1DAFF"/>
    <a:srgbClr val="164F8F"/>
    <a:srgbClr val="184F90"/>
    <a:srgbClr val="105498"/>
    <a:srgbClr val="185090"/>
    <a:srgbClr val="156082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-668" y="-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8BA0C7-BE67-48D5-BD35-DA5DB3D3A476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67D57-D457-4EAE-BF4F-2FDE0C552E3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29617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415E15A-8ED6-8531-ACA3-5CE122589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9507DFD0-D83B-EBC4-CEFB-E8BCBC290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FB329BF-34AB-6B7C-2221-C74713377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EDEED-7842-4258-8A82-6812FA1E8BFB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755F78E-7794-F036-28F3-88211ACDB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1A43C1D-8CA2-9094-5D87-C15A99732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41688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4629628-5864-D26E-C525-65E3E5BA0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F047314-70E0-2292-24E3-AB5D75A3E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CF1846E-FBFF-1E2E-99A4-BE0E4E060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0CC30-37F6-49DC-8F97-9FC4C90ABBE4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194DED9-C0B4-116E-2505-1DBDB66A1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09532EF-85F9-6967-DAF1-FD8F5653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3822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2D54261-5AB7-0C17-0691-FAC080764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2B323B7-BFB6-CB47-54A2-D9047A013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F65AF4-438B-B3E9-E401-90F0D5C0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6254-DF34-4B25-8594-5D60DA2E06AD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4F9C8DE-9A32-A5C0-0E13-05A74F382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BD8E43D-0D9C-7B2E-C87D-4680F225F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3534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4062B64-C63E-44E9-2506-8D19BCE1D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8152EBF-C5BF-83EF-F061-70599F4F7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43BF7818-064D-B14D-C27C-DBFF56D9C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4598F46-BD53-3CDC-1C65-41CC5EC54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3910C-AAA9-4EBC-B496-A3B1AB664E29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0A5A4F0-E8D7-9512-2938-CC32A1098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D68909C-21EB-59DF-39FF-210F6306E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64663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E6C29-DA86-6F21-8709-CCB3B9486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1F9C9AC-3485-C255-51FE-BF2807C85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454E693-EB5D-0123-AE87-7BEAA5F8D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FA32530E-CA4A-F62C-C8E7-7A271E23F9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7452A2CC-C818-7B55-C1D7-E81B96CA0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FB0ADFDB-C373-CB11-8A66-84DE595D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0867D-E0D5-49E8-B491-4AFA3BE2396B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DBF2E257-BED6-EEE0-2F86-D12E9B4C6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4846BED7-9CDB-5725-CB58-D080D33C3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20172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7D4BB1D-580F-5132-C23E-B9CD688EE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76580E1-1188-F78F-DBDB-BD60F976B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511D-A56B-4FB4-867E-80BB956F2BC0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A13376EA-12EF-2180-D39D-32B344DD8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90EC9DB-DCC3-B1AB-587D-7D5D1DFE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83074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62957248-1ACE-B0B5-9242-19E7C1473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6D47-A815-4926-A44E-2D6ED0185A8A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D2B83C30-0C93-9307-2564-157C44936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AAE16DA-E589-FA88-4D7C-103B1A6AB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43363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B7C4F56-B781-88DE-B5CF-8666E1686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E048CB4-7C73-57F6-4C1F-6C475FF92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9CCB3E8-9234-B7F9-0909-B0DDAA520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EA25712-9136-2D26-AB91-5E8C187F0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9D76-0D3E-4EA7-B250-0F2D356A6FC0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3C51FC2-9B9E-5567-DCBC-97BA5F12D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93D5149-27C1-FBF9-584D-0CDCAADDE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66453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090ECB5-0124-E4AB-796D-4DD2001A1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8DA109C8-FE9F-0C66-9C71-8C3DDAE55F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9A2CBBC3-C85A-2A3F-441B-71C12E1B7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14CC9F9-8D8B-FF83-A7D0-ECAE1A086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5876-36BD-4EF0-A012-C15007E79556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1717425-9B0E-9676-ADA4-8456000AB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90C69FA-8AB7-BCF6-F761-4FAE38610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15205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7838D7-ED46-1642-DC1A-3A465BB2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E4E15FD-A10E-BAF8-E05C-538407F87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D4DE2C9-0FB1-E71A-FB85-9648E0180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AB554-37BB-4542-BE7B-4A6B4EE64334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72025A5-BF35-212A-9794-5B9117B89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322621E-0398-079F-48B0-4E9BF4D85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82805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70785918-5C87-9CA6-5F8A-9772EFAB8B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ED2CDE8-2A9D-A636-8E8E-D9BC332C9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E6A6C24-D833-818E-EA16-DF6479703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A672A-4548-49D3-BFAB-EEFB9AC642E7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D9DE245-B4A4-F43F-404C-840EF95B1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CB5E3AB-A1E1-E9C0-F70E-E74A4DF44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0367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9DDC4ECF-2932-CCE3-D471-28AEE158A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BC3F014-55A0-15E8-570C-9924061EA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28FC8E4-76AA-BD7E-E8F5-883744F5AD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7A8920-E8A9-414C-8407-630EE2D7E960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7FCE52D-3D9F-AC04-8299-E6328C65F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E9F1DD0-ABF1-D159-6BFD-2D7BD5284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61909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C027CC2F-7B4F-AA9B-4D81-E98F83DF2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742C3F97-7163-10DB-A067-B3F1568C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396FE-0C88-4477-8CA6-DFFA80F6EC4B}" type="datetime1">
              <a:rPr lang="en-US" sz="2000" smtClean="0">
                <a:latin typeface="Times New Roman" pitchFamily="18" charset="0"/>
                <a:cs typeface="Times New Roman" pitchFamily="18" charset="0"/>
              </a:rPr>
              <a:pPr/>
              <a:t>8/24/2026</a:t>
            </a:fld>
            <a:endParaRPr lang="en-US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B743A2CC-628E-6D6B-CB09-6DD9562D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z="2000" smtClean="0">
                <a:latin typeface="Times New Roman" pitchFamily="18" charset="0"/>
                <a:cs typeface="Times New Roman" pitchFamily="18" charset="0"/>
              </a:rPr>
              <a:pPr/>
              <a:t>1</a:t>
            </a:fld>
            <a:endParaRPr lang="en-US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50A3A666-1D60-C481-FA38-2B6816EEF98A}"/>
              </a:ext>
            </a:extLst>
          </p:cNvPr>
          <p:cNvSpPr txBox="1"/>
          <p:nvPr/>
        </p:nvSpPr>
        <p:spPr>
          <a:xfrm>
            <a:off x="2336800" y="134364"/>
            <a:ext cx="9745291" cy="400110"/>
          </a:xfrm>
          <a:prstGeom prst="rect">
            <a:avLst/>
          </a:prstGeom>
          <a:solidFill>
            <a:srgbClr val="194E91"/>
          </a:solidFill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School of Computer Science and Artificial Intelligence, SR University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61643550-BC90-31DB-C96C-291D61ED3D0D}"/>
              </a:ext>
            </a:extLst>
          </p:cNvPr>
          <p:cNvSpPr txBox="1"/>
          <p:nvPr/>
        </p:nvSpPr>
        <p:spPr>
          <a:xfrm>
            <a:off x="0" y="2755364"/>
            <a:ext cx="650895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Times New Roman" pitchFamily="18" charset="0"/>
                <a:cs typeface="Times New Roman" pitchFamily="18" charset="0"/>
              </a:rPr>
              <a:t>Course Instructors</a:t>
            </a:r>
          </a:p>
          <a:p>
            <a:endParaRPr lang="en-IN" sz="2000" b="1" u="sng" dirty="0">
              <a:solidFill>
                <a:srgbClr val="164F8F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/>
              <a:t>Dr. </a:t>
            </a:r>
            <a:r>
              <a:rPr lang="en-US" sz="2000" dirty="0" err="1"/>
              <a:t>Nageswararao</a:t>
            </a:r>
            <a:r>
              <a:rPr lang="en-US" sz="2000" dirty="0"/>
              <a:t> </a:t>
            </a:r>
            <a:r>
              <a:rPr lang="en-US" sz="2000" dirty="0" err="1"/>
              <a:t>Naik</a:t>
            </a:r>
            <a:r>
              <a:rPr lang="en-US" sz="2000" dirty="0"/>
              <a:t> </a:t>
            </a:r>
            <a:r>
              <a:rPr lang="en-US" sz="2000" dirty="0" err="1"/>
              <a:t>Bhookya</a:t>
            </a:r>
            <a:endParaRPr lang="en-US" sz="2000" dirty="0"/>
          </a:p>
          <a:p>
            <a:r>
              <a:rPr lang="en-US" sz="2000" dirty="0"/>
              <a:t>Dr. VIJAYA PRAKASH R</a:t>
            </a:r>
          </a:p>
          <a:p>
            <a:r>
              <a:rPr lang="en-US" sz="2000" dirty="0"/>
              <a:t>Dr. PRAVEEN PAPPULA</a:t>
            </a:r>
          </a:p>
          <a:p>
            <a:r>
              <a:rPr lang="en-US" sz="2000" dirty="0"/>
              <a:t>Dr. M SURESH KUMAR</a:t>
            </a:r>
          </a:p>
          <a:p>
            <a:r>
              <a:rPr lang="en-US" sz="2000" dirty="0"/>
              <a:t>Dr. G NEELIMA</a:t>
            </a:r>
          </a:p>
          <a:p>
            <a:r>
              <a:rPr lang="en-US" sz="2000" dirty="0"/>
              <a:t>Dr. RAMESH BABU A</a:t>
            </a:r>
          </a:p>
          <a:p>
            <a:r>
              <a:rPr lang="en-US" sz="2000" dirty="0"/>
              <a:t>Dr. JOHNSON KOLLURI</a:t>
            </a:r>
          </a:p>
          <a:p>
            <a:r>
              <a:rPr lang="en-US" sz="2000" dirty="0"/>
              <a:t>Dr. KABITA THAOROIJAM</a:t>
            </a:r>
          </a:p>
          <a:p>
            <a:r>
              <a:rPr lang="en-US" sz="2000" dirty="0"/>
              <a:t>Dr. RAVEENDRA BABU VEMPATI</a:t>
            </a:r>
          </a:p>
          <a:p>
            <a:r>
              <a:rPr lang="en-US" sz="2000" dirty="0"/>
              <a:t>Mr. GOTTE RANJIT KUMAR</a:t>
            </a:r>
          </a:p>
          <a:p>
            <a:endParaRPr lang="en-US" sz="2000" dirty="0"/>
          </a:p>
          <a:p>
            <a:endParaRPr lang="en-US" sz="2000" b="1" u="sng" dirty="0">
              <a:solidFill>
                <a:srgbClr val="164F8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="" xmlns:a16="http://schemas.microsoft.com/office/drawing/2014/main" id="{B852DD20-2BA1-1097-A1A8-83E90344B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122036765"/>
              </p:ext>
            </p:extLst>
          </p:nvPr>
        </p:nvGraphicFramePr>
        <p:xfrm>
          <a:off x="109910" y="1273306"/>
          <a:ext cx="605332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038">
                  <a:extLst>
                    <a:ext uri="{9D8B030D-6E8A-4147-A177-3AD203B41FA5}">
                      <a16:colId xmlns="" xmlns:a16="http://schemas.microsoft.com/office/drawing/2014/main" val="1381312057"/>
                    </a:ext>
                  </a:extLst>
                </a:gridCol>
                <a:gridCol w="2575673">
                  <a:extLst>
                    <a:ext uri="{9D8B030D-6E8A-4147-A177-3AD203B41FA5}">
                      <a16:colId xmlns="" xmlns:a16="http://schemas.microsoft.com/office/drawing/2014/main" val="242157776"/>
                    </a:ext>
                  </a:extLst>
                </a:gridCol>
                <a:gridCol w="265555">
                  <a:extLst>
                    <a:ext uri="{9D8B030D-6E8A-4147-A177-3AD203B41FA5}">
                      <a16:colId xmlns="" xmlns:a16="http://schemas.microsoft.com/office/drawing/2014/main" val="446022343"/>
                    </a:ext>
                  </a:extLst>
                </a:gridCol>
                <a:gridCol w="450441">
                  <a:extLst>
                    <a:ext uri="{9D8B030D-6E8A-4147-A177-3AD203B41FA5}">
                      <a16:colId xmlns="" xmlns:a16="http://schemas.microsoft.com/office/drawing/2014/main" val="3074180346"/>
                    </a:ext>
                  </a:extLst>
                </a:gridCol>
                <a:gridCol w="336125">
                  <a:extLst>
                    <a:ext uri="{9D8B030D-6E8A-4147-A177-3AD203B41FA5}">
                      <a16:colId xmlns="" xmlns:a16="http://schemas.microsoft.com/office/drawing/2014/main" val="2065650034"/>
                    </a:ext>
                  </a:extLst>
                </a:gridCol>
                <a:gridCol w="539496">
                  <a:extLst>
                    <a:ext uri="{9D8B030D-6E8A-4147-A177-3AD203B41FA5}">
                      <a16:colId xmlns="" xmlns:a16="http://schemas.microsoft.com/office/drawing/2014/main" val="42360255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Course 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Course 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5482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cap="all" dirty="0">
                          <a:solidFill>
                            <a:srgbClr val="194E91"/>
                          </a:solidFill>
                          <a:latin typeface="+mn-lt"/>
                          <a:ea typeface="+mn-ea"/>
                          <a:cs typeface="+mn-cs"/>
                        </a:rPr>
                        <a:t>24CS312ES301</a:t>
                      </a:r>
                      <a:endParaRPr lang="en-US" b="1" dirty="0">
                        <a:solidFill>
                          <a:srgbClr val="194E9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164F8F"/>
                          </a:solidFill>
                        </a:rPr>
                        <a:t>Algorithms</a:t>
                      </a:r>
                      <a:endParaRPr lang="en-US" b="1" dirty="0">
                        <a:solidFill>
                          <a:srgbClr val="164F8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164F8F"/>
                          </a:solidFill>
                        </a:rPr>
                        <a:t>3</a:t>
                      </a:r>
                      <a:endParaRPr lang="en-US" b="1" dirty="0">
                        <a:solidFill>
                          <a:srgbClr val="164F8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164F8F"/>
                          </a:solidFill>
                        </a:rPr>
                        <a:t>1</a:t>
                      </a:r>
                      <a:endParaRPr lang="en-US" b="1" dirty="0">
                        <a:solidFill>
                          <a:srgbClr val="164F8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164F8F"/>
                          </a:solidFill>
                        </a:rPr>
                        <a:t>4</a:t>
                      </a:r>
                      <a:endParaRPr lang="en-US" b="1" dirty="0">
                        <a:solidFill>
                          <a:srgbClr val="164F8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164F8F"/>
                          </a:solidFill>
                        </a:rPr>
                        <a:t>5.5</a:t>
                      </a:r>
                      <a:endParaRPr lang="en-US" b="1" dirty="0">
                        <a:solidFill>
                          <a:srgbClr val="164F8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526047256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164F8F"/>
                          </a:solidFill>
                        </a:rPr>
                        <a:t>Program Core</a:t>
                      </a:r>
                      <a:endParaRPr lang="en-US" b="1" dirty="0">
                        <a:solidFill>
                          <a:srgbClr val="164F8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25807806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2E9565CE-F940-4E40-840E-05DAAD5EF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579267038"/>
              </p:ext>
            </p:extLst>
          </p:nvPr>
        </p:nvGraphicFramePr>
        <p:xfrm>
          <a:off x="6249564" y="1273306"/>
          <a:ext cx="2208636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08636">
                  <a:extLst>
                    <a:ext uri="{9D8B030D-6E8A-4147-A177-3AD203B41FA5}">
                      <a16:colId xmlns="" xmlns:a16="http://schemas.microsoft.com/office/drawing/2014/main" val="2443765172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UNIT I: Introduction and Elementary Data Structures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9259202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1E174C43-2445-5A44-DE5A-BF274237C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825327926"/>
              </p:ext>
            </p:extLst>
          </p:nvPr>
        </p:nvGraphicFramePr>
        <p:xfrm>
          <a:off x="8610600" y="1186748"/>
          <a:ext cx="3471491" cy="54020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1491">
                  <a:extLst>
                    <a:ext uri="{9D8B030D-6E8A-4147-A177-3AD203B41FA5}">
                      <a16:colId xmlns="" xmlns:a16="http://schemas.microsoft.com/office/drawing/2014/main" val="1059976695"/>
                    </a:ext>
                  </a:extLst>
                </a:gridCol>
              </a:tblGrid>
              <a:tr h="3123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Lesson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07758912"/>
                  </a:ext>
                </a:extLst>
              </a:tr>
              <a:tr h="994047">
                <a:tc>
                  <a:txBody>
                    <a:bodyPr/>
                    <a:lstStyle/>
                    <a:p>
                      <a:pPr lvl="0"/>
                      <a:r>
                        <a:rPr lang="en-US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1.Order Notation.</a:t>
                      </a:r>
                    </a:p>
                    <a:p>
                      <a:pPr lvl="0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2.Analysis of Algorithms. </a:t>
                      </a:r>
                    </a:p>
                    <a:p>
                      <a:pPr lvl="0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3.Running Time Analysis Recall of Asymptotic Notation.</a:t>
                      </a:r>
                    </a:p>
                    <a:p>
                      <a:pPr lvl="0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4.Big-Oh, Theta, Big-Omega.</a:t>
                      </a:r>
                    </a:p>
                    <a:p>
                      <a:pPr lvl="0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5.Little-Oh and Little-Omega. </a:t>
                      </a:r>
                    </a:p>
                    <a:p>
                      <a:pPr lvl="0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6.Worst Case and Average Case Complexity.</a:t>
                      </a:r>
                    </a:p>
                    <a:p>
                      <a:pPr lvl="0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7.Evaluating Algorithm Efficiency.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107406387"/>
                  </a:ext>
                </a:extLst>
              </a:tr>
              <a:tr h="5465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350850909"/>
                  </a:ext>
                </a:extLst>
              </a:tr>
              <a:tr h="10150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8874249"/>
                  </a:ext>
                </a:extLst>
              </a:tr>
              <a:tr h="3123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670986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434162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02AD16C-EACE-807C-AB29-6D4BBE7AC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DA9BF963-A14E-0D23-3CC5-2A29AECF7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BDB5567E-5927-9983-2116-CA7232D43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FC1B7CF2-B14D-6BDA-CD4A-D84A5D3F6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A2F9E1E2-9AD9-535D-2D69-ACE96CF7B40B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1014FCD0-21EB-628F-6257-153596366AD3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3A4B850F-806B-BBFF-1AF4-974F9A13EA87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A41B9311-EB0F-91C5-AE6F-9C882E10B2F6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Long Integer Multiplication</a:t>
            </a:r>
            <a:endParaRPr lang="en-US" sz="28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36713" y="1331843"/>
            <a:ext cx="1107219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What is Divide and Conquer?</a:t>
            </a:r>
          </a:p>
          <a:p>
            <a:r>
              <a:rPr lang="en-US" sz="2800" b="1" dirty="0" smtClean="0"/>
              <a:t>Divide and Conquer</a:t>
            </a:r>
            <a:r>
              <a:rPr lang="en-US" sz="2800" dirty="0" smtClean="0"/>
              <a:t> means:</a:t>
            </a:r>
          </a:p>
          <a:p>
            <a:r>
              <a:rPr lang="en-US" sz="2800" b="1" dirty="0" smtClean="0"/>
              <a:t>Divide</a:t>
            </a:r>
            <a:r>
              <a:rPr lang="en-US" sz="2800" dirty="0" smtClean="0"/>
              <a:t> → Divide a big problem into smaller problems. </a:t>
            </a:r>
          </a:p>
          <a:p>
            <a:r>
              <a:rPr lang="en-US" sz="2800" b="1" dirty="0" smtClean="0"/>
              <a:t>Conquer</a:t>
            </a:r>
            <a:r>
              <a:rPr lang="en-US" sz="2800" dirty="0" smtClean="0"/>
              <a:t> → Solve the smaller problems. </a:t>
            </a:r>
          </a:p>
          <a:p>
            <a:r>
              <a:rPr lang="en-US" sz="2800" b="1" dirty="0" smtClean="0"/>
              <a:t>Combine</a:t>
            </a:r>
            <a:r>
              <a:rPr lang="en-US" sz="2800" dirty="0" smtClean="0"/>
              <a:t> → Combine the solutions of the smaller problems to get the final answer. </a:t>
            </a:r>
          </a:p>
          <a:p>
            <a:r>
              <a:rPr lang="en-US" sz="2800" dirty="0" smtClean="0"/>
              <a:t>For </a:t>
            </a:r>
            <a:r>
              <a:rPr lang="en-US" sz="2800" b="1" dirty="0" smtClean="0"/>
              <a:t>multiplication</a:t>
            </a:r>
            <a:r>
              <a:rPr lang="en-US" sz="2800" dirty="0" smtClean="0"/>
              <a:t>, we divide each large number into two parts.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717232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905E9DE-C3A2-0E4E-998E-7CF035C5E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F774A132-C37C-456F-DB7D-E9262C7E6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9D603550-D849-D42A-73CD-B51043D5A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32FBE11F-B1BB-325E-829C-22AF55281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EFF81D79-B65E-972A-8E30-06DCA0256D07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CE9CD1B0-D1DB-1C89-0A38-711B1ADF12DF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0F824FBE-F448-5487-C735-7A5A6C8C7106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73CEAB20-924D-ECA2-A29B-92FD2C8B66A6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14027249-7143-E964-A7B3-B5EC39911E1F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Long Integer</a:t>
            </a:r>
            <a:endParaRPr lang="en-US" sz="28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0DA92BFB-C46E-2BC7-A0DC-25C111B7C63D}"/>
              </a:ext>
            </a:extLst>
          </p:cNvPr>
          <p:cNvSpPr/>
          <p:nvPr/>
        </p:nvSpPr>
        <p:spPr>
          <a:xfrm>
            <a:off x="536713" y="1125370"/>
            <a:ext cx="1107219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3. Example</a:t>
            </a:r>
          </a:p>
          <a:p>
            <a:r>
              <a:rPr lang="en-US" sz="2800" dirty="0" smtClean="0"/>
              <a:t>Suppose we want to multiply:</a:t>
            </a:r>
          </a:p>
          <a:p>
            <a:r>
              <a:rPr lang="en-US" sz="2800" b="1" dirty="0" smtClean="0">
                <a:solidFill>
                  <a:srgbClr val="00B050"/>
                </a:solidFill>
              </a:rPr>
              <a:t>1234 × 5678</a:t>
            </a:r>
            <a:endParaRPr lang="en-US" sz="2800" dirty="0" smtClean="0">
              <a:solidFill>
                <a:srgbClr val="00B050"/>
              </a:solidFill>
            </a:endParaRPr>
          </a:p>
          <a:p>
            <a:r>
              <a:rPr lang="en-US" sz="2800" dirty="0" smtClean="0"/>
              <a:t>Instead of multiplying them directly, let us divide both numbers into two parts.</a:t>
            </a:r>
          </a:p>
          <a:p>
            <a:r>
              <a:rPr lang="en-US" sz="2800" b="1" dirty="0" smtClean="0"/>
              <a:t>1234 → 12 | 34</a:t>
            </a:r>
            <a:endParaRPr lang="en-US" sz="2800" dirty="0" smtClean="0"/>
          </a:p>
          <a:p>
            <a:r>
              <a:rPr lang="en-US" sz="2800" dirty="0" smtClean="0"/>
              <a:t>That means:</a:t>
            </a:r>
          </a:p>
          <a:p>
            <a:r>
              <a:rPr lang="en-US" sz="2800" b="1" dirty="0" smtClean="0"/>
              <a:t>1234 = 12 × 100 + 34</a:t>
            </a:r>
            <a:endParaRPr lang="en-US" sz="2800" dirty="0" smtClean="0"/>
          </a:p>
          <a:p>
            <a:r>
              <a:rPr lang="en-US" sz="2800" dirty="0" smtClean="0"/>
              <a:t>Similarly:</a:t>
            </a:r>
          </a:p>
          <a:p>
            <a:r>
              <a:rPr lang="en-US" sz="2800" b="1" dirty="0" smtClean="0"/>
              <a:t>5678 → 56 | 78</a:t>
            </a:r>
            <a:endParaRPr lang="en-US" sz="2800" dirty="0" smtClean="0"/>
          </a:p>
          <a:p>
            <a:r>
              <a:rPr lang="en-US" sz="2800" dirty="0" smtClean="0"/>
              <a:t>That means:</a:t>
            </a:r>
          </a:p>
          <a:p>
            <a:r>
              <a:rPr lang="en-US" sz="2800" b="1" dirty="0" smtClean="0"/>
              <a:t>5678 = 56 × 100 + 78</a:t>
            </a:r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533903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4. Now Let Us Multiply</a:t>
            </a:r>
          </a:p>
          <a:p>
            <a:r>
              <a:rPr lang="en-US" sz="2800" b="1" dirty="0" smtClean="0"/>
              <a:t>1234 × 5678 = (12 × 100 + 34)(56 × 100 + 78)</a:t>
            </a:r>
            <a:endParaRPr lang="en-US" sz="2800" dirty="0" smtClean="0"/>
          </a:p>
          <a:p>
            <a:r>
              <a:rPr lang="en-US" sz="2800" dirty="0" smtClean="0"/>
              <a:t>After multiplying:</a:t>
            </a:r>
          </a:p>
          <a:p>
            <a:r>
              <a:rPr lang="en-US" sz="2800" b="1" dirty="0" smtClean="0"/>
              <a:t>= 12 × 56 × 10000 + 12 × 78 × 100 + 34 × 56 × 100 + 34 × 78</a:t>
            </a:r>
            <a:endParaRPr lang="en-US" sz="2800" dirty="0" smtClean="0"/>
          </a:p>
          <a:p>
            <a:r>
              <a:rPr lang="en-US" sz="2800" dirty="0" smtClean="0"/>
              <a:t>Therefore, we get four smaller multiplications:</a:t>
            </a:r>
          </a:p>
          <a:p>
            <a:r>
              <a:rPr lang="en-US" sz="2800" b="1" dirty="0" smtClean="0"/>
              <a:t>12 × 56</a:t>
            </a:r>
            <a:r>
              <a:rPr lang="en-US" sz="2800" dirty="0" smtClean="0"/>
              <a:t> </a:t>
            </a:r>
          </a:p>
          <a:p>
            <a:r>
              <a:rPr lang="en-US" sz="2800" b="1" dirty="0" smtClean="0"/>
              <a:t>12 × 78</a:t>
            </a:r>
            <a:r>
              <a:rPr lang="en-US" sz="2800" dirty="0" smtClean="0"/>
              <a:t> </a:t>
            </a:r>
          </a:p>
          <a:p>
            <a:r>
              <a:rPr lang="en-US" sz="2800" b="1" dirty="0" smtClean="0"/>
              <a:t>34 × 56</a:t>
            </a:r>
            <a:r>
              <a:rPr lang="en-US" sz="2800" dirty="0" smtClean="0"/>
              <a:t> </a:t>
            </a:r>
          </a:p>
          <a:p>
            <a:r>
              <a:rPr lang="en-US" sz="2800" b="1" dirty="0" smtClean="0"/>
              <a:t>34 × 78</a:t>
            </a:r>
            <a:r>
              <a:rPr lang="en-US" sz="2800" dirty="0" smtClean="0"/>
              <a:t> </a:t>
            </a:r>
          </a:p>
          <a:p>
            <a:r>
              <a:rPr lang="en-US" sz="2800" dirty="0" smtClean="0"/>
              <a:t>These are much smaller problems than </a:t>
            </a:r>
            <a:r>
              <a:rPr lang="en-US" sz="2800" b="1" dirty="0" smtClean="0"/>
              <a:t>1234 × 5678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This is the </a:t>
            </a:r>
            <a:r>
              <a:rPr lang="en-US" sz="2800" b="1" dirty="0" smtClean="0"/>
              <a:t>Divide step</a:t>
            </a:r>
            <a:r>
              <a:rPr lang="en-US" sz="2800" dirty="0" smtClean="0"/>
              <a:t>.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1BA2DFD-9219-1291-E1C4-E56A1B3C4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C174A93B-734A-BA16-1D36-4DD6EEF5C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764C1426-C032-F59A-D289-AEA70BE1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46607F16-F4CC-ED9C-DE21-AC9AE07B2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DCC7988A-62F1-BC6C-A683-177BCD7B0656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8F85CE4A-29F6-E4EC-3B29-3822E00F20FD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AFAE4E09-46CC-FBD9-85E8-250081CCD79D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85FA93B2-C7DF-2D05-7C9A-07FDB9DAD5EB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00F22D34-F967-63F2-0D4F-52A8C41C8C4F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9278603F-DEF9-F4A9-1350-F23ADCFB26C3}"/>
              </a:ext>
            </a:extLst>
          </p:cNvPr>
          <p:cNvSpPr/>
          <p:nvPr/>
        </p:nvSpPr>
        <p:spPr>
          <a:xfrm>
            <a:off x="536713" y="1042283"/>
            <a:ext cx="11072191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5. Let Us Solve the Smaller Multiplications</a:t>
            </a:r>
          </a:p>
          <a:p>
            <a:r>
              <a:rPr lang="en-US" sz="2800" b="1" dirty="0" smtClean="0"/>
              <a:t>12 × 56 = 672</a:t>
            </a:r>
            <a:r>
              <a:rPr lang="en-US" sz="2800" dirty="0" smtClean="0"/>
              <a:t> </a:t>
            </a:r>
          </a:p>
          <a:p>
            <a:r>
              <a:rPr lang="en-US" sz="2800" b="1" dirty="0" smtClean="0"/>
              <a:t>12 × 78 = 936</a:t>
            </a:r>
            <a:r>
              <a:rPr lang="en-US" sz="2800" dirty="0" smtClean="0"/>
              <a:t> </a:t>
            </a:r>
          </a:p>
          <a:p>
            <a:r>
              <a:rPr lang="en-US" sz="2800" b="1" dirty="0" smtClean="0"/>
              <a:t>34 × 56 = 1904</a:t>
            </a:r>
            <a:r>
              <a:rPr lang="en-US" sz="2800" dirty="0" smtClean="0"/>
              <a:t> </a:t>
            </a:r>
          </a:p>
          <a:p>
            <a:r>
              <a:rPr lang="en-US" sz="2800" b="1" dirty="0" smtClean="0"/>
              <a:t>34 × 78 = 2652</a:t>
            </a:r>
            <a:r>
              <a:rPr lang="en-US" sz="2800" dirty="0" smtClean="0"/>
              <a:t> </a:t>
            </a:r>
          </a:p>
          <a:p>
            <a:r>
              <a:rPr lang="en-US" sz="2800" dirty="0" smtClean="0"/>
              <a:t>Now, substitute these values:</a:t>
            </a:r>
          </a:p>
          <a:p>
            <a:r>
              <a:rPr lang="en-US" sz="2800" b="1" dirty="0" smtClean="0"/>
              <a:t>= 672 × 10000 + 936 × 100 + 1904 × 100 + 2652</a:t>
            </a:r>
            <a:endParaRPr lang="en-US" sz="2800" dirty="0" smtClean="0"/>
          </a:p>
          <a:p>
            <a:r>
              <a:rPr lang="en-US" sz="2800" b="1" dirty="0" smtClean="0"/>
              <a:t>= 6,720,000 + 93,600 + 190,400 + 2,652</a:t>
            </a:r>
            <a:endParaRPr lang="en-US" sz="2800" dirty="0" smtClean="0"/>
          </a:p>
          <a:p>
            <a:r>
              <a:rPr lang="en-US" sz="2800" b="1" dirty="0" smtClean="0"/>
              <a:t>= 7,006,652</a:t>
            </a:r>
            <a:endParaRPr lang="en-US" sz="2800" dirty="0" smtClean="0"/>
          </a:p>
          <a:p>
            <a:r>
              <a:rPr lang="en-US" sz="2800" dirty="0" smtClean="0"/>
              <a:t>Therefore:</a:t>
            </a:r>
          </a:p>
          <a:p>
            <a:r>
              <a:rPr lang="en-US" sz="2800" b="1" dirty="0" smtClean="0">
                <a:solidFill>
                  <a:srgbClr val="00B050"/>
                </a:solidFill>
              </a:rPr>
              <a:t>1234 × 5678 = 7,006,652</a:t>
            </a:r>
            <a:endParaRPr lang="en-US" sz="28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19547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6. Divide and Conquer Formula</a:t>
            </a:r>
          </a:p>
          <a:p>
            <a:r>
              <a:rPr lang="en-US" sz="2400" dirty="0" smtClean="0"/>
              <a:t>Suppose:</a:t>
            </a:r>
          </a:p>
          <a:p>
            <a:r>
              <a:rPr lang="en-US" sz="2400" b="1" dirty="0" smtClean="0"/>
              <a:t>A = a × 10ᵐ + b</a:t>
            </a:r>
            <a:endParaRPr lang="en-US" sz="2400" dirty="0" smtClean="0"/>
          </a:p>
          <a:p>
            <a:r>
              <a:rPr lang="en-US" sz="2400" b="1" dirty="0" smtClean="0"/>
              <a:t>B = c × 10ᵐ + d</a:t>
            </a:r>
            <a:endParaRPr lang="en-US" sz="2400" dirty="0" smtClean="0"/>
          </a:p>
          <a:p>
            <a:r>
              <a:rPr lang="en-US" sz="2400" dirty="0" smtClean="0"/>
              <a:t>Then:</a:t>
            </a:r>
          </a:p>
          <a:p>
            <a:r>
              <a:rPr lang="en-US" sz="2400" b="1" dirty="0" smtClean="0"/>
              <a:t>A × B = ac × 10²ᵐ + (ad + </a:t>
            </a:r>
            <a:r>
              <a:rPr lang="en-US" sz="2400" b="1" dirty="0" err="1" smtClean="0"/>
              <a:t>bc</a:t>
            </a:r>
            <a:r>
              <a:rPr lang="en-US" sz="2400" b="1" dirty="0" smtClean="0"/>
              <a:t>) × 10ᵐ + </a:t>
            </a:r>
            <a:r>
              <a:rPr lang="en-US" sz="2400" b="1" dirty="0" err="1" smtClean="0"/>
              <a:t>bd</a:t>
            </a:r>
            <a:endParaRPr lang="en-US" sz="2400" dirty="0" smtClean="0"/>
          </a:p>
          <a:p>
            <a:r>
              <a:rPr lang="en-US" sz="2400" dirty="0" smtClean="0"/>
              <a:t>That means we need four products:</a:t>
            </a:r>
          </a:p>
          <a:p>
            <a:r>
              <a:rPr lang="en-US" sz="2400" b="1" dirty="0" smtClean="0"/>
              <a:t>ac</a:t>
            </a:r>
            <a:r>
              <a:rPr lang="en-US" sz="2400" dirty="0" smtClean="0"/>
              <a:t> </a:t>
            </a:r>
          </a:p>
          <a:p>
            <a:r>
              <a:rPr lang="en-US" sz="2400" b="1" dirty="0" smtClean="0"/>
              <a:t>ad</a:t>
            </a:r>
            <a:r>
              <a:rPr lang="en-US" sz="2400" dirty="0" smtClean="0"/>
              <a:t> </a:t>
            </a:r>
          </a:p>
          <a:p>
            <a:r>
              <a:rPr lang="en-US" sz="2400" b="1" dirty="0" err="1" smtClean="0"/>
              <a:t>bc</a:t>
            </a:r>
            <a:r>
              <a:rPr lang="en-US" sz="2400" dirty="0" smtClean="0"/>
              <a:t> </a:t>
            </a:r>
          </a:p>
          <a:p>
            <a:r>
              <a:rPr lang="en-US" sz="2400" b="1" dirty="0" err="1" smtClean="0"/>
              <a:t>bd</a:t>
            </a:r>
            <a:r>
              <a:rPr lang="en-US" sz="2400" dirty="0" smtClean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7. Where Exactly Is the Recursion?</a:t>
            </a:r>
          </a:p>
          <a:p>
            <a:r>
              <a:rPr lang="en-US" sz="2400" dirty="0" smtClean="0"/>
              <a:t>We </a:t>
            </a:r>
            <a:r>
              <a:rPr lang="en-US" sz="2400" dirty="0" smtClean="0"/>
              <a:t>can calculate </a:t>
            </a:r>
            <a:r>
              <a:rPr lang="en-US" sz="2400" b="1" dirty="0" smtClean="0"/>
              <a:t>12 × 56</a:t>
            </a:r>
            <a:r>
              <a:rPr lang="en-US" sz="2400" dirty="0" smtClean="0"/>
              <a:t> using normal multiplication.</a:t>
            </a:r>
          </a:p>
          <a:p>
            <a:r>
              <a:rPr lang="en-US" sz="2400" dirty="0" smtClean="0"/>
              <a:t>But in </a:t>
            </a:r>
            <a:r>
              <a:rPr lang="en-US" sz="2400" b="1" dirty="0" smtClean="0"/>
              <a:t>Divide and Conquer</a:t>
            </a:r>
            <a:r>
              <a:rPr lang="en-US" sz="2400" dirty="0" smtClean="0"/>
              <a:t>, we divide:</a:t>
            </a:r>
          </a:p>
          <a:p>
            <a:r>
              <a:rPr lang="en-US" sz="2400" b="1" dirty="0" smtClean="0"/>
              <a:t>12 × 56</a:t>
            </a:r>
            <a:endParaRPr lang="en-US" sz="2400" dirty="0" smtClean="0"/>
          </a:p>
          <a:p>
            <a:r>
              <a:rPr lang="en-US" sz="2400" dirty="0" smtClean="0"/>
              <a:t>again into smaller parts.</a:t>
            </a:r>
          </a:p>
          <a:p>
            <a:r>
              <a:rPr lang="en-US" sz="2400" b="1" dirty="0" smtClean="0"/>
              <a:t>12 → 1 | 2</a:t>
            </a:r>
            <a:endParaRPr lang="en-US" sz="2400" dirty="0" smtClean="0"/>
          </a:p>
          <a:p>
            <a:r>
              <a:rPr lang="en-US" sz="2400" b="1" dirty="0" smtClean="0"/>
              <a:t>56 → 5 | 6</a:t>
            </a:r>
            <a:endParaRPr lang="en-US" sz="2400" dirty="0" smtClean="0"/>
          </a:p>
          <a:p>
            <a:r>
              <a:rPr lang="en-US" sz="2400" dirty="0" smtClean="0"/>
              <a:t>Then we get smaller problems:</a:t>
            </a:r>
          </a:p>
          <a:p>
            <a:r>
              <a:rPr lang="en-US" sz="2400" b="1" dirty="0" smtClean="0"/>
              <a:t>1 × 5</a:t>
            </a:r>
            <a:r>
              <a:rPr lang="en-US" sz="2400" dirty="0" smtClean="0"/>
              <a:t> </a:t>
            </a:r>
          </a:p>
          <a:p>
            <a:r>
              <a:rPr lang="en-US" sz="2400" b="1" dirty="0" smtClean="0"/>
              <a:t>1 × 6</a:t>
            </a:r>
            <a:r>
              <a:rPr lang="en-US" sz="2400" dirty="0" smtClean="0"/>
              <a:t> </a:t>
            </a:r>
          </a:p>
          <a:p>
            <a:r>
              <a:rPr lang="en-US" sz="2400" b="1" dirty="0" smtClean="0"/>
              <a:t>2 × 5</a:t>
            </a:r>
            <a:r>
              <a:rPr lang="en-US" sz="2400" dirty="0" smtClean="0"/>
              <a:t> </a:t>
            </a:r>
          </a:p>
          <a:p>
            <a:r>
              <a:rPr lang="en-US" sz="2400" b="1" dirty="0" smtClean="0"/>
              <a:t>2 × 6</a:t>
            </a:r>
            <a:r>
              <a:rPr lang="en-US" sz="2400" dirty="0" smtClean="0"/>
              <a:t> </a:t>
            </a:r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We continue dividing the problem into smaller and smaller problems until we reach </a:t>
            </a:r>
            <a:r>
              <a:rPr lang="en-US" sz="2400" b="1" dirty="0" smtClean="0"/>
              <a:t>single-digit multiplication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For example:</a:t>
            </a:r>
          </a:p>
          <a:p>
            <a:r>
              <a:rPr lang="en-US" sz="2400" b="1" dirty="0" smtClean="0"/>
              <a:t>3 × 4 = 12</a:t>
            </a:r>
            <a:endParaRPr lang="en-US" sz="2400" dirty="0" smtClean="0"/>
          </a:p>
          <a:p>
            <a:r>
              <a:rPr lang="en-US" sz="2400" dirty="0" smtClean="0"/>
              <a:t>There is no need to divide it further.</a:t>
            </a:r>
          </a:p>
          <a:p>
            <a:r>
              <a:rPr lang="en-US" sz="2400" dirty="0" smtClean="0"/>
              <a:t>This is called the </a:t>
            </a:r>
            <a:r>
              <a:rPr lang="en-US" sz="2400" b="1" dirty="0" smtClean="0"/>
              <a:t>Base Case of Recursion</a:t>
            </a:r>
            <a:r>
              <a:rPr lang="en-US" sz="2400" dirty="0" smtClean="0"/>
              <a:t>. 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308009" y="904776"/>
            <a:ext cx="11300896" cy="62222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8.  Recursion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multiply(1234, 5678)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↓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Divide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↓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12×56   12×78   34×56   34×78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↓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Divide Again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↓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Smaller Multiplications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↓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Single-Digit Products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↓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Combine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↓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7006652                                             </a:t>
            </a:r>
            <a:r>
              <a:rPr lang="en-US" sz="2400" dirty="0" smtClean="0"/>
              <a:t>This is called </a:t>
            </a:r>
            <a:r>
              <a:rPr lang="en-US" sz="2400" b="1" dirty="0" smtClean="0"/>
              <a:t>Recursion</a:t>
            </a:r>
            <a:r>
              <a:rPr lang="en-US" sz="2400" dirty="0" smtClean="0"/>
              <a:t>.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9. </a:t>
            </a:r>
            <a:r>
              <a:rPr lang="en-US" sz="2400" b="1" dirty="0" smtClean="0">
                <a:solidFill>
                  <a:srgbClr val="FF0000"/>
                </a:solidFill>
              </a:rPr>
              <a:t>How Do We Calculate 12 × 56 Using Recursion?</a:t>
            </a:r>
          </a:p>
          <a:p>
            <a:endParaRPr lang="en-US" sz="2400" dirty="0" smtClean="0"/>
          </a:p>
          <a:p>
            <a:r>
              <a:rPr lang="en-US" sz="2400" dirty="0" smtClean="0"/>
              <a:t>First, split both numbers:</a:t>
            </a:r>
          </a:p>
          <a:p>
            <a:endParaRPr lang="en-US" sz="2400" dirty="0" smtClean="0"/>
          </a:p>
          <a:p>
            <a:r>
              <a:rPr lang="en-US" sz="2400" b="1" dirty="0" smtClean="0"/>
              <a:t>12 → 1 | 2</a:t>
            </a:r>
            <a:endParaRPr lang="en-US" sz="2400" dirty="0" smtClean="0"/>
          </a:p>
          <a:p>
            <a:r>
              <a:rPr lang="en-US" sz="2400" b="1" dirty="0" smtClean="0"/>
              <a:t>56 → 5 | 6</a:t>
            </a:r>
          </a:p>
          <a:p>
            <a:endParaRPr lang="en-US" sz="2400" dirty="0" smtClean="0"/>
          </a:p>
          <a:p>
            <a:r>
              <a:rPr lang="en-US" sz="2400" dirty="0" smtClean="0"/>
              <a:t>So, we get:</a:t>
            </a:r>
          </a:p>
          <a:p>
            <a:r>
              <a:rPr lang="en-US" sz="2400" b="1" dirty="0" smtClean="0"/>
              <a:t>1 × 5 = 5</a:t>
            </a:r>
            <a:r>
              <a:rPr lang="en-US" sz="2400" dirty="0" smtClean="0"/>
              <a:t> </a:t>
            </a:r>
          </a:p>
          <a:p>
            <a:r>
              <a:rPr lang="en-US" sz="2400" b="1" dirty="0" smtClean="0"/>
              <a:t>1 × 6 = 6</a:t>
            </a:r>
            <a:r>
              <a:rPr lang="en-US" sz="2400" dirty="0" smtClean="0"/>
              <a:t> </a:t>
            </a:r>
          </a:p>
          <a:p>
            <a:r>
              <a:rPr lang="en-US" sz="2400" b="1" dirty="0" smtClean="0"/>
              <a:t>2 × 5 = 10</a:t>
            </a:r>
            <a:r>
              <a:rPr lang="en-US" sz="2400" dirty="0" smtClean="0"/>
              <a:t> </a:t>
            </a:r>
          </a:p>
          <a:p>
            <a:r>
              <a:rPr lang="en-US" sz="2400" b="1" dirty="0" smtClean="0"/>
              <a:t>2 × 6 = 12</a:t>
            </a:r>
            <a:r>
              <a:rPr lang="en-US" sz="2400" dirty="0" smtClean="0"/>
              <a:t> </a:t>
            </a:r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How do we calculate 12 × 56 using recursion?</a:t>
            </a:r>
          </a:p>
          <a:p>
            <a:r>
              <a:rPr lang="en-US" sz="2400" dirty="0" smtClean="0"/>
              <a:t>We want:</a:t>
            </a:r>
          </a:p>
          <a:p>
            <a:r>
              <a:rPr lang="en-US" sz="2400" b="1" dirty="0" smtClean="0">
                <a:solidFill>
                  <a:srgbClr val="00B050"/>
                </a:solidFill>
              </a:rPr>
              <a:t>12 × 56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Step 1: Split 12</a:t>
            </a:r>
          </a:p>
          <a:p>
            <a:r>
              <a:rPr lang="en-US" sz="2400" dirty="0" smtClean="0"/>
              <a:t>12 → 1 | 2</a:t>
            </a:r>
          </a:p>
          <a:p>
            <a:r>
              <a:rPr lang="en-US" sz="2400" dirty="0" smtClean="0"/>
              <a:t>This means:</a:t>
            </a:r>
          </a:p>
          <a:p>
            <a:r>
              <a:rPr lang="en-US" sz="2400" dirty="0" smtClean="0"/>
              <a:t>12 = 1 × 10 + 2</a:t>
            </a:r>
          </a:p>
          <a:p>
            <a:r>
              <a:rPr lang="en-US" sz="2400" dirty="0" smtClean="0"/>
              <a:t>Why 10?</a:t>
            </a:r>
          </a:p>
          <a:p>
            <a:r>
              <a:rPr lang="en-US" sz="2400" dirty="0" smtClean="0"/>
              <a:t>Because 2 is in the </a:t>
            </a:r>
            <a:r>
              <a:rPr lang="en-US" sz="2400" b="1" dirty="0" smtClean="0"/>
              <a:t>ones place</a:t>
            </a:r>
            <a:r>
              <a:rPr lang="en-US" sz="2400" dirty="0" smtClean="0"/>
              <a:t> and 1 is in the </a:t>
            </a:r>
            <a:r>
              <a:rPr lang="en-US" sz="2400" b="1" dirty="0" smtClean="0"/>
              <a:t>tens place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So:</a:t>
            </a:r>
          </a:p>
          <a:p>
            <a:r>
              <a:rPr lang="en-US" sz="2400" dirty="0" smtClean="0"/>
              <a:t>1 × 10 = 10 </a:t>
            </a:r>
            <a:endParaRPr lang="en-US" sz="2400" dirty="0" smtClean="0"/>
          </a:p>
          <a:p>
            <a:r>
              <a:rPr lang="en-US" sz="2400" dirty="0" smtClean="0"/>
              <a:t>10 </a:t>
            </a:r>
            <a:r>
              <a:rPr lang="en-US" sz="2400" dirty="0" smtClean="0"/>
              <a:t>+ 2 = 12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Step 2: Split 56</a:t>
            </a:r>
          </a:p>
          <a:p>
            <a:r>
              <a:rPr lang="en-US" sz="2400" dirty="0" smtClean="0"/>
              <a:t>56 → 5 | 6</a:t>
            </a:r>
          </a:p>
          <a:p>
            <a:r>
              <a:rPr lang="en-US" sz="2400" dirty="0" smtClean="0"/>
              <a:t>This means:</a:t>
            </a:r>
          </a:p>
          <a:p>
            <a:r>
              <a:rPr lang="en-US" sz="2400" dirty="0" smtClean="0"/>
              <a:t>56 = 5 × 10 + </a:t>
            </a:r>
            <a:r>
              <a:rPr lang="en-US" sz="2400" dirty="0" smtClean="0"/>
              <a:t>6</a:t>
            </a:r>
          </a:p>
          <a:p>
            <a:endParaRPr lang="en-US" sz="2400" dirty="0" smtClean="0"/>
          </a:p>
          <a:p>
            <a:r>
              <a:rPr lang="en-US" sz="2400" dirty="0" smtClean="0"/>
              <a:t>Because</a:t>
            </a:r>
            <a:r>
              <a:rPr lang="en-US" sz="2400" dirty="0" smtClean="0"/>
              <a:t>:</a:t>
            </a:r>
          </a:p>
          <a:p>
            <a:endParaRPr lang="en-US" sz="2400" dirty="0" smtClean="0"/>
          </a:p>
          <a:p>
            <a:r>
              <a:rPr lang="en-US" sz="2400" dirty="0" smtClean="0"/>
              <a:t>5 × 10 = </a:t>
            </a:r>
            <a:r>
              <a:rPr lang="en-US" sz="2400" dirty="0" smtClean="0"/>
              <a:t>50</a:t>
            </a:r>
          </a:p>
          <a:p>
            <a:r>
              <a:rPr lang="en-US" sz="2400" dirty="0" smtClean="0"/>
              <a:t> </a:t>
            </a:r>
            <a:r>
              <a:rPr lang="en-US" sz="2400" dirty="0" smtClean="0"/>
              <a:t>50 + 6 = 56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Step 3: Now multiply</a:t>
            </a:r>
          </a:p>
          <a:p>
            <a:r>
              <a:rPr lang="en-US" sz="2400" dirty="0" smtClean="0"/>
              <a:t>We have:</a:t>
            </a:r>
          </a:p>
          <a:p>
            <a:r>
              <a:rPr lang="en-US" sz="2400" dirty="0" smtClean="0"/>
              <a:t>12 × 56</a:t>
            </a:r>
          </a:p>
          <a:p>
            <a:r>
              <a:rPr lang="en-US" sz="2400" dirty="0" smtClean="0"/>
              <a:t>Replace them:</a:t>
            </a:r>
          </a:p>
          <a:p>
            <a:r>
              <a:rPr lang="en-US" sz="2400" dirty="0" smtClean="0"/>
              <a:t>(1 × 10 + 2) × (5 × 10 + 6)</a:t>
            </a:r>
          </a:p>
          <a:p>
            <a:r>
              <a:rPr lang="en-US" sz="2400" dirty="0" smtClean="0"/>
              <a:t>Now we split the big multiplication into </a:t>
            </a:r>
            <a:r>
              <a:rPr lang="en-US" sz="2400" b="1" dirty="0" smtClean="0"/>
              <a:t>four smaller multiplications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They are:</a:t>
            </a:r>
          </a:p>
          <a:p>
            <a:r>
              <a:rPr lang="en-US" sz="2400" dirty="0" smtClean="0"/>
              <a:t>1 × 5 </a:t>
            </a:r>
            <a:endParaRPr lang="en-US" sz="2400" dirty="0" smtClean="0"/>
          </a:p>
          <a:p>
            <a:r>
              <a:rPr lang="en-US" sz="2400" dirty="0" smtClean="0"/>
              <a:t>1 </a:t>
            </a:r>
            <a:r>
              <a:rPr lang="en-US" sz="2400" dirty="0" smtClean="0"/>
              <a:t>× 6 </a:t>
            </a:r>
            <a:endParaRPr lang="en-US" sz="2400" dirty="0" smtClean="0"/>
          </a:p>
          <a:p>
            <a:r>
              <a:rPr lang="en-US" sz="2400" dirty="0" smtClean="0"/>
              <a:t>2 </a:t>
            </a:r>
            <a:r>
              <a:rPr lang="en-US" sz="2400" dirty="0" smtClean="0"/>
              <a:t>× </a:t>
            </a:r>
            <a:r>
              <a:rPr lang="en-US" sz="2400" dirty="0" smtClean="0"/>
              <a:t>5</a:t>
            </a:r>
          </a:p>
          <a:p>
            <a:r>
              <a:rPr lang="en-US" sz="2400" dirty="0" smtClean="0"/>
              <a:t> </a:t>
            </a:r>
            <a:r>
              <a:rPr lang="en-US" sz="2400" dirty="0" smtClean="0"/>
              <a:t>2 × </a:t>
            </a:r>
            <a:r>
              <a:rPr lang="en-US" sz="2400" dirty="0" smtClean="0"/>
              <a:t>6</a:t>
            </a:r>
            <a:endParaRPr lang="en-US" sz="2400" dirty="0" smtClean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Step 4: Calculate the four small multiplications</a:t>
            </a:r>
          </a:p>
          <a:p>
            <a:r>
              <a:rPr lang="en-US" sz="2400" b="1" dirty="0" smtClean="0"/>
              <a:t>First</a:t>
            </a:r>
          </a:p>
          <a:p>
            <a:r>
              <a:rPr lang="en-US" sz="2400" dirty="0" smtClean="0"/>
              <a:t>1 × 5 = 5</a:t>
            </a:r>
          </a:p>
          <a:p>
            <a:r>
              <a:rPr lang="en-US" sz="2400" b="1" dirty="0" smtClean="0"/>
              <a:t>Second</a:t>
            </a:r>
          </a:p>
          <a:p>
            <a:r>
              <a:rPr lang="en-US" sz="2400" dirty="0" smtClean="0"/>
              <a:t>1 × 6 = 6</a:t>
            </a:r>
          </a:p>
          <a:p>
            <a:r>
              <a:rPr lang="en-US" sz="2400" b="1" dirty="0" smtClean="0"/>
              <a:t>Third</a:t>
            </a:r>
          </a:p>
          <a:p>
            <a:r>
              <a:rPr lang="en-US" sz="2400" dirty="0" smtClean="0"/>
              <a:t>2 × 5 = 10</a:t>
            </a:r>
          </a:p>
          <a:p>
            <a:r>
              <a:rPr lang="en-US" sz="2400" b="1" dirty="0" smtClean="0"/>
              <a:t>Fourth</a:t>
            </a:r>
          </a:p>
          <a:p>
            <a:r>
              <a:rPr lang="en-US" sz="2400" dirty="0" smtClean="0"/>
              <a:t>2 × 6 = 12</a:t>
            </a:r>
          </a:p>
          <a:p>
            <a:r>
              <a:rPr lang="en-US" sz="2400" dirty="0" smtClean="0"/>
              <a:t>So now we have:</a:t>
            </a:r>
          </a:p>
          <a:p>
            <a:r>
              <a:rPr lang="en-US" sz="2400" dirty="0" smtClean="0"/>
              <a:t>5</a:t>
            </a:r>
          </a:p>
          <a:p>
            <a:r>
              <a:rPr lang="en-US" sz="2400" dirty="0" smtClean="0"/>
              <a:t> </a:t>
            </a:r>
            <a:r>
              <a:rPr lang="en-US" sz="2400" dirty="0" smtClean="0"/>
              <a:t>6 </a:t>
            </a:r>
            <a:endParaRPr lang="en-US" sz="2400" dirty="0" smtClean="0"/>
          </a:p>
          <a:p>
            <a:r>
              <a:rPr lang="en-US" sz="2400" dirty="0" smtClean="0"/>
              <a:t>10 </a:t>
            </a:r>
          </a:p>
          <a:p>
            <a:r>
              <a:rPr lang="en-US" sz="2400" dirty="0" smtClean="0"/>
              <a:t>12      But </a:t>
            </a:r>
            <a:r>
              <a:rPr lang="en-US" sz="2400" b="1" dirty="0" smtClean="0"/>
              <a:t>we are NOT finished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Combine the four answers</a:t>
            </a:r>
          </a:p>
          <a:p>
            <a:r>
              <a:rPr lang="en-US" sz="2400" dirty="0" smtClean="0"/>
              <a:t>We need to put each answer in its </a:t>
            </a:r>
            <a:r>
              <a:rPr lang="en-US" sz="2400" b="1" dirty="0" smtClean="0"/>
              <a:t>correct place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12 </a:t>
            </a:r>
            <a:r>
              <a:rPr lang="en-US" sz="2400" dirty="0" smtClean="0"/>
              <a:t>= 1 × 10 + </a:t>
            </a:r>
            <a:r>
              <a:rPr lang="en-US" sz="2400" dirty="0" smtClean="0"/>
              <a:t>2</a:t>
            </a:r>
          </a:p>
          <a:p>
            <a:r>
              <a:rPr lang="en-US" sz="2400" dirty="0" smtClean="0"/>
              <a:t> </a:t>
            </a:r>
            <a:r>
              <a:rPr lang="en-US" sz="2400" dirty="0" smtClean="0"/>
              <a:t>56 = 5 × 10 + 6</a:t>
            </a:r>
          </a:p>
          <a:p>
            <a:r>
              <a:rPr lang="en-US" sz="2400" dirty="0" smtClean="0"/>
              <a:t>So:</a:t>
            </a:r>
          </a:p>
          <a:p>
            <a:r>
              <a:rPr lang="en-US" sz="2400" dirty="0" smtClean="0"/>
              <a:t>12 × 56 = (1×10 + 2)(5×10 + 6)</a:t>
            </a:r>
          </a:p>
          <a:p>
            <a:r>
              <a:rPr lang="en-US" sz="2400" dirty="0" smtClean="0"/>
              <a:t>When we multiply:</a:t>
            </a:r>
          </a:p>
          <a:p>
            <a:r>
              <a:rPr lang="en-US" sz="2400" dirty="0" smtClean="0"/>
              <a:t>= 1×5×10×10 + </a:t>
            </a:r>
            <a:endParaRPr lang="en-US" sz="2400" dirty="0" smtClean="0"/>
          </a:p>
          <a:p>
            <a:r>
              <a:rPr lang="en-US" sz="2400" dirty="0" smtClean="0"/>
              <a:t>  1×6×10 </a:t>
            </a:r>
            <a:r>
              <a:rPr lang="en-US" sz="2400" dirty="0" smtClean="0"/>
              <a:t>+ </a:t>
            </a:r>
            <a:endParaRPr lang="en-US" sz="2400" dirty="0" smtClean="0"/>
          </a:p>
          <a:p>
            <a:r>
              <a:rPr lang="en-US" sz="2400" dirty="0" smtClean="0"/>
              <a:t>   2×5×10 +</a:t>
            </a:r>
          </a:p>
          <a:p>
            <a:r>
              <a:rPr lang="en-US" sz="2400" dirty="0" smtClean="0"/>
              <a:t>   2×6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Now simplify the 10s:</a:t>
            </a:r>
          </a:p>
          <a:p>
            <a:r>
              <a:rPr lang="en-US" sz="2400" dirty="0" smtClean="0"/>
              <a:t>= 1×5×100 + 1×6×10 + 2×5×10 + 2×6</a:t>
            </a:r>
          </a:p>
          <a:p>
            <a:r>
              <a:rPr lang="en-US" sz="2400" dirty="0" smtClean="0"/>
              <a:t>Now use our four answers:</a:t>
            </a:r>
          </a:p>
          <a:p>
            <a:r>
              <a:rPr lang="en-US" sz="2400" dirty="0" smtClean="0"/>
              <a:t>1×5 = 5 </a:t>
            </a:r>
            <a:endParaRPr lang="en-US" sz="2400" dirty="0" smtClean="0"/>
          </a:p>
          <a:p>
            <a:r>
              <a:rPr lang="en-US" sz="2400" dirty="0" smtClean="0"/>
              <a:t>1×6 </a:t>
            </a:r>
            <a:r>
              <a:rPr lang="en-US" sz="2400" dirty="0" smtClean="0"/>
              <a:t>= 6 </a:t>
            </a:r>
            <a:endParaRPr lang="en-US" sz="2400" dirty="0" smtClean="0"/>
          </a:p>
          <a:p>
            <a:r>
              <a:rPr lang="en-US" sz="2400" dirty="0" smtClean="0"/>
              <a:t>2×5 </a:t>
            </a:r>
            <a:r>
              <a:rPr lang="en-US" sz="2400" dirty="0" smtClean="0"/>
              <a:t>= 10 </a:t>
            </a:r>
            <a:endParaRPr lang="en-US" sz="2400" dirty="0" smtClean="0"/>
          </a:p>
          <a:p>
            <a:r>
              <a:rPr lang="en-US" sz="2400" dirty="0" smtClean="0"/>
              <a:t>2×6 </a:t>
            </a:r>
            <a:r>
              <a:rPr lang="en-US" sz="2400" dirty="0" smtClean="0"/>
              <a:t>= </a:t>
            </a:r>
            <a:r>
              <a:rPr lang="en-US" sz="2400" dirty="0" smtClean="0"/>
              <a:t>12</a:t>
            </a:r>
          </a:p>
          <a:p>
            <a:endParaRPr lang="en-US" sz="2400" dirty="0" smtClean="0"/>
          </a:p>
          <a:p>
            <a:r>
              <a:rPr lang="en-US" sz="2400" dirty="0" smtClean="0"/>
              <a:t>Therefore</a:t>
            </a:r>
            <a:r>
              <a:rPr lang="en-US" sz="2400" dirty="0" smtClean="0"/>
              <a:t>:</a:t>
            </a:r>
          </a:p>
          <a:p>
            <a:endParaRPr lang="en-US" sz="2400" dirty="0" smtClean="0"/>
          </a:p>
          <a:p>
            <a:r>
              <a:rPr lang="en-US" sz="2400" dirty="0" smtClean="0"/>
              <a:t>= 5×100 + 6×10 + 10×10 + 12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288759" y="924026"/>
            <a:ext cx="11320146" cy="657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Step 5: Calculate</a:t>
            </a:r>
          </a:p>
          <a:p>
            <a:r>
              <a:rPr lang="en-US" sz="2400" dirty="0" smtClean="0"/>
              <a:t>First:</a:t>
            </a:r>
          </a:p>
          <a:p>
            <a:r>
              <a:rPr lang="en-US" sz="2400" dirty="0" smtClean="0"/>
              <a:t>5 × 100 = 500</a:t>
            </a:r>
          </a:p>
          <a:p>
            <a:r>
              <a:rPr lang="en-US" sz="2400" dirty="0" smtClean="0"/>
              <a:t>Second:</a:t>
            </a:r>
          </a:p>
          <a:p>
            <a:r>
              <a:rPr lang="en-US" sz="2400" dirty="0" smtClean="0"/>
              <a:t>6 × 10 = 60</a:t>
            </a:r>
          </a:p>
          <a:p>
            <a:r>
              <a:rPr lang="en-US" sz="2400" dirty="0" smtClean="0"/>
              <a:t>Third:</a:t>
            </a:r>
          </a:p>
          <a:p>
            <a:r>
              <a:rPr lang="en-US" sz="2400" dirty="0" smtClean="0"/>
              <a:t>10 × 10 = 100</a:t>
            </a:r>
          </a:p>
          <a:p>
            <a:r>
              <a:rPr lang="en-US" sz="2400" dirty="0" smtClean="0"/>
              <a:t>Fourth:</a:t>
            </a:r>
          </a:p>
          <a:p>
            <a:r>
              <a:rPr lang="en-US" sz="2400" dirty="0" smtClean="0"/>
              <a:t>12 = 12</a:t>
            </a:r>
          </a:p>
          <a:p>
            <a:r>
              <a:rPr lang="en-US" sz="2400" dirty="0" smtClean="0"/>
              <a:t>Now add:</a:t>
            </a:r>
          </a:p>
          <a:p>
            <a:r>
              <a:rPr lang="en-US" sz="2400" dirty="0" smtClean="0"/>
              <a:t>500 </a:t>
            </a:r>
            <a:endParaRPr lang="en-US" sz="2400" dirty="0" smtClean="0"/>
          </a:p>
          <a:p>
            <a:r>
              <a:rPr lang="en-US" sz="2400" dirty="0" smtClean="0"/>
              <a:t>60 </a:t>
            </a:r>
          </a:p>
          <a:p>
            <a:r>
              <a:rPr lang="en-US" sz="2400" dirty="0" smtClean="0"/>
              <a:t>100 </a:t>
            </a:r>
          </a:p>
          <a:p>
            <a:r>
              <a:rPr lang="en-US" sz="2400" dirty="0" smtClean="0"/>
              <a:t>12 </a:t>
            </a:r>
          </a:p>
          <a:p>
            <a:r>
              <a:rPr lang="en-US" sz="2400" dirty="0" smtClean="0"/>
              <a:t>------ </a:t>
            </a:r>
          </a:p>
          <a:p>
            <a:r>
              <a:rPr lang="en-US" sz="2400" dirty="0" smtClean="0"/>
              <a:t>672</a:t>
            </a:r>
            <a:endParaRPr lang="en-US" sz="2400" dirty="0" smtClean="0"/>
          </a:p>
          <a:p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288759" y="924026"/>
            <a:ext cx="1132014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Therefore:</a:t>
            </a:r>
          </a:p>
          <a:p>
            <a:r>
              <a:rPr lang="en-US" sz="2400" b="1" dirty="0" smtClean="0"/>
              <a:t>⭐ 12 × 56 = 672</a:t>
            </a:r>
          </a:p>
          <a:p>
            <a:r>
              <a:rPr lang="en-US" sz="2400" dirty="0" smtClean="0"/>
              <a:t>500 </a:t>
            </a:r>
            <a:r>
              <a:rPr lang="en-US" sz="2400" dirty="0" smtClean="0"/>
              <a:t>+ 160 + 12 = 672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Now:</a:t>
            </a:r>
          </a:p>
          <a:p>
            <a:r>
              <a:rPr lang="en-US" sz="2400" b="1" dirty="0" smtClean="0"/>
              <a:t>12 × 56 = (1 × 10 + 2)(5 × 10 + 6)</a:t>
            </a:r>
            <a:endParaRPr lang="en-US" sz="2400" dirty="0" smtClean="0"/>
          </a:p>
          <a:p>
            <a:r>
              <a:rPr lang="en-US" sz="2400" dirty="0" smtClean="0"/>
              <a:t>After multiplying:</a:t>
            </a:r>
          </a:p>
          <a:p>
            <a:r>
              <a:rPr lang="en-US" sz="2400" b="1" dirty="0" smtClean="0"/>
              <a:t>= 1 × 5 × 100 + (1 × 6 + 2 × 5) × 10 + 2 × 6</a:t>
            </a:r>
            <a:endParaRPr lang="en-US" sz="2400" dirty="0" smtClean="0"/>
          </a:p>
          <a:p>
            <a:r>
              <a:rPr lang="en-US" sz="2400" b="1" dirty="0" smtClean="0"/>
              <a:t>= 5 × 100 + (6 + 10) × 10 + 12</a:t>
            </a:r>
            <a:endParaRPr lang="en-US" sz="2400" dirty="0" smtClean="0"/>
          </a:p>
          <a:p>
            <a:r>
              <a:rPr lang="en-US" sz="2400" b="1" dirty="0" smtClean="0"/>
              <a:t>= 500 + 160 + 12</a:t>
            </a:r>
            <a:endParaRPr lang="en-US" sz="2400" dirty="0" smtClean="0"/>
          </a:p>
          <a:p>
            <a:r>
              <a:rPr lang="en-US" sz="2400" b="1" dirty="0" smtClean="0"/>
              <a:t>= 672</a:t>
            </a:r>
            <a:endParaRPr lang="en-US" sz="2400" dirty="0" smtClean="0"/>
          </a:p>
          <a:p>
            <a:r>
              <a:rPr lang="en-US" sz="2400" dirty="0" smtClean="0"/>
              <a:t>Therefore:</a:t>
            </a:r>
          </a:p>
          <a:p>
            <a:r>
              <a:rPr lang="en-US" sz="2400" b="1" dirty="0" smtClean="0"/>
              <a:t>12 × 56 = 672</a:t>
            </a:r>
            <a:r>
              <a:rPr lang="en-US" sz="2400" dirty="0" smtClean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baseline="30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EXAMPLE</a:t>
            </a:r>
            <a:endParaRPr lang="en-US" sz="28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Example 2:</a:t>
            </a:r>
            <a:endParaRPr lang="en-US" sz="2400" dirty="0" smtClean="0"/>
          </a:p>
          <a:p>
            <a:r>
              <a:rPr lang="en-US" sz="2400" b="1" dirty="0" smtClean="0">
                <a:solidFill>
                  <a:srgbClr val="FF0000"/>
                </a:solidFill>
              </a:rPr>
              <a:t>2468×1357​ </a:t>
            </a:r>
          </a:p>
          <a:p>
            <a:r>
              <a:rPr lang="en-US" sz="2400" dirty="0" smtClean="0"/>
              <a:t> </a:t>
            </a:r>
          </a:p>
          <a:p>
            <a:r>
              <a:rPr lang="en-US" sz="2400" b="1" dirty="0" smtClean="0"/>
              <a:t>Step 1: Divide both numbers into two parts</a:t>
            </a:r>
            <a:endParaRPr lang="en-US" sz="2400" dirty="0" smtClean="0"/>
          </a:p>
          <a:p>
            <a:r>
              <a:rPr lang="en-US" sz="2400" b="1" dirty="0" smtClean="0"/>
              <a:t>First number</a:t>
            </a:r>
            <a:endParaRPr lang="en-US" sz="2400" dirty="0" smtClean="0"/>
          </a:p>
          <a:p>
            <a:r>
              <a:rPr lang="en-US" sz="2400" dirty="0" smtClean="0"/>
              <a:t>2468 → 24 | 68</a:t>
            </a:r>
          </a:p>
          <a:p>
            <a:r>
              <a:rPr lang="en-US" sz="2400" dirty="0" smtClean="0"/>
              <a:t>Therefore:</a:t>
            </a:r>
          </a:p>
          <a:p>
            <a:r>
              <a:rPr lang="en-US" sz="2400" dirty="0" smtClean="0"/>
              <a:t>2468=24×100+68 </a:t>
            </a:r>
          </a:p>
          <a:p>
            <a:r>
              <a:rPr lang="en-US" sz="2400" dirty="0" smtClean="0"/>
              <a:t>Check:</a:t>
            </a:r>
          </a:p>
          <a:p>
            <a:r>
              <a:rPr lang="en-US" sz="2400" dirty="0" smtClean="0"/>
              <a:t>24 × 100 = 2400</a:t>
            </a:r>
          </a:p>
          <a:p>
            <a:r>
              <a:rPr lang="en-US" sz="2400" dirty="0" smtClean="0"/>
              <a:t> </a:t>
            </a:r>
          </a:p>
          <a:p>
            <a:r>
              <a:rPr lang="en-US" sz="2400" dirty="0" smtClean="0"/>
              <a:t>2400 + 68 = 2468</a:t>
            </a:r>
          </a:p>
          <a:p>
            <a:r>
              <a:rPr lang="en-US" sz="2400" dirty="0" smtClean="0"/>
              <a:t>So it is correct.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Second number</a:t>
            </a:r>
            <a:endParaRPr lang="en-US" sz="2400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1357 → 13 | 57</a:t>
            </a:r>
          </a:p>
          <a:p>
            <a:r>
              <a:rPr lang="en-US" sz="2400" dirty="0" smtClean="0"/>
              <a:t>Therefore:</a:t>
            </a:r>
          </a:p>
          <a:p>
            <a:r>
              <a:rPr lang="en-US" sz="2400" dirty="0" smtClean="0"/>
              <a:t>1357=13×100+57 </a:t>
            </a:r>
          </a:p>
          <a:p>
            <a:r>
              <a:rPr lang="en-US" sz="2400" dirty="0" smtClean="0"/>
              <a:t>Check:</a:t>
            </a:r>
          </a:p>
          <a:p>
            <a:r>
              <a:rPr lang="en-US" sz="2400" dirty="0" smtClean="0"/>
              <a:t>13 × 100 = 1300</a:t>
            </a:r>
          </a:p>
          <a:p>
            <a:r>
              <a:rPr lang="en-US" sz="2400" dirty="0" smtClean="0"/>
              <a:t> </a:t>
            </a:r>
          </a:p>
          <a:p>
            <a:r>
              <a:rPr lang="en-US" sz="2400" dirty="0" smtClean="0"/>
              <a:t>1300 + 57 = 1357</a:t>
            </a:r>
          </a:p>
          <a:p>
            <a:r>
              <a:rPr lang="en-US" sz="2400" dirty="0" smtClean="0"/>
              <a:t>So it is correct.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Step 2: Write the multiplication</a:t>
            </a:r>
            <a:endParaRPr lang="en-US" sz="2400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Now:</a:t>
            </a:r>
          </a:p>
          <a:p>
            <a:r>
              <a:rPr lang="en-US" sz="2400" dirty="0" smtClean="0"/>
              <a:t>2468×1357 </a:t>
            </a:r>
          </a:p>
          <a:p>
            <a:r>
              <a:rPr lang="en-US" sz="2400" dirty="0" smtClean="0"/>
              <a:t>becomes:</a:t>
            </a:r>
          </a:p>
          <a:p>
            <a:r>
              <a:rPr lang="en-US" sz="2400" dirty="0" smtClean="0"/>
              <a:t>(24×100+68)(13×100+57) </a:t>
            </a:r>
          </a:p>
          <a:p>
            <a:r>
              <a:rPr lang="en-US" sz="2400" dirty="0" smtClean="0"/>
              <a:t>Now we need </a:t>
            </a:r>
            <a:r>
              <a:rPr lang="en-US" sz="2400" b="1" dirty="0" smtClean="0"/>
              <a:t>4 small multiplications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Step 3: Calculate the 4 small multiplications</a:t>
            </a:r>
            <a:endParaRPr lang="en-US" sz="2400" dirty="0" smtClean="0">
              <a:solidFill>
                <a:srgbClr val="FF0000"/>
              </a:solidFill>
            </a:endParaRPr>
          </a:p>
          <a:p>
            <a:r>
              <a:rPr lang="en-US" sz="2400" b="1" dirty="0" smtClean="0">
                <a:solidFill>
                  <a:srgbClr val="00B050"/>
                </a:solidFill>
              </a:rPr>
              <a:t>1. First multiplication</a:t>
            </a:r>
            <a:endParaRPr lang="en-US" sz="2400" dirty="0" smtClean="0">
              <a:solidFill>
                <a:srgbClr val="00B050"/>
              </a:solidFill>
            </a:endParaRPr>
          </a:p>
          <a:p>
            <a:r>
              <a:rPr lang="en-US" sz="2400" dirty="0" smtClean="0"/>
              <a:t>24×13 </a:t>
            </a:r>
          </a:p>
          <a:p>
            <a:r>
              <a:rPr lang="en-US" sz="2400" dirty="0" smtClean="0"/>
              <a:t>24 × 13 = 312</a:t>
            </a:r>
          </a:p>
          <a:p>
            <a:r>
              <a:rPr lang="en-US" sz="2400" dirty="0" smtClean="0"/>
              <a:t> </a:t>
            </a:r>
          </a:p>
          <a:p>
            <a:r>
              <a:rPr lang="en-US" sz="2400" b="1" dirty="0" smtClean="0">
                <a:solidFill>
                  <a:srgbClr val="00B050"/>
                </a:solidFill>
              </a:rPr>
              <a:t>2. Second multiplication</a:t>
            </a:r>
            <a:endParaRPr lang="en-US" sz="2400" dirty="0" smtClean="0">
              <a:solidFill>
                <a:srgbClr val="00B050"/>
              </a:solidFill>
            </a:endParaRPr>
          </a:p>
          <a:p>
            <a:r>
              <a:rPr lang="en-US" sz="2400" dirty="0" smtClean="0"/>
              <a:t>24×57 </a:t>
            </a:r>
          </a:p>
          <a:p>
            <a:r>
              <a:rPr lang="en-US" sz="2400" dirty="0" smtClean="0"/>
              <a:t>24 × 57 = 1368</a:t>
            </a:r>
          </a:p>
          <a:p>
            <a:r>
              <a:rPr lang="en-US" sz="2400" dirty="0" smtClean="0"/>
              <a:t> </a:t>
            </a:r>
          </a:p>
          <a:p>
            <a:r>
              <a:rPr lang="en-US" sz="2400" b="1" dirty="0" smtClean="0">
                <a:solidFill>
                  <a:srgbClr val="00B050"/>
                </a:solidFill>
              </a:rPr>
              <a:t>3. Third multiplication</a:t>
            </a:r>
            <a:endParaRPr lang="en-US" sz="2400" dirty="0" smtClean="0">
              <a:solidFill>
                <a:srgbClr val="00B050"/>
              </a:solidFill>
            </a:endParaRPr>
          </a:p>
          <a:p>
            <a:r>
              <a:rPr lang="en-US" sz="2400" dirty="0" smtClean="0"/>
              <a:t>68×13 </a:t>
            </a:r>
          </a:p>
          <a:p>
            <a:r>
              <a:rPr lang="en-US" sz="2400" dirty="0" smtClean="0"/>
              <a:t>68 × 13 = 884</a:t>
            </a:r>
          </a:p>
          <a:p>
            <a:r>
              <a:rPr lang="en-US" sz="2400" dirty="0" smtClean="0"/>
              <a:t> </a:t>
            </a:r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 </a:t>
            </a:r>
          </a:p>
          <a:p>
            <a:r>
              <a:rPr lang="en-US" sz="2400" b="1" dirty="0" smtClean="0">
                <a:solidFill>
                  <a:srgbClr val="00B050"/>
                </a:solidFill>
              </a:rPr>
              <a:t>4. Fourth multiplication</a:t>
            </a:r>
            <a:endParaRPr lang="en-US" sz="2400" dirty="0" smtClean="0">
              <a:solidFill>
                <a:srgbClr val="00B050"/>
              </a:solidFill>
            </a:endParaRPr>
          </a:p>
          <a:p>
            <a:r>
              <a:rPr lang="en-US" sz="2400" dirty="0" smtClean="0"/>
              <a:t>68×57 </a:t>
            </a:r>
          </a:p>
          <a:p>
            <a:r>
              <a:rPr lang="en-US" sz="2400" dirty="0" smtClean="0"/>
              <a:t>68 × 57 = 3876</a:t>
            </a:r>
          </a:p>
          <a:p>
            <a:r>
              <a:rPr lang="en-US" sz="2400" dirty="0" smtClean="0"/>
              <a:t>So we have:</a:t>
            </a:r>
          </a:p>
          <a:p>
            <a:r>
              <a:rPr lang="en-US" sz="2400" dirty="0" smtClean="0"/>
              <a:t>24 × 13 = 312</a:t>
            </a:r>
          </a:p>
          <a:p>
            <a:r>
              <a:rPr lang="en-US" sz="2400" dirty="0" smtClean="0"/>
              <a:t>24 × 57 = 1368</a:t>
            </a:r>
          </a:p>
          <a:p>
            <a:r>
              <a:rPr lang="en-US" sz="2400" dirty="0" smtClean="0"/>
              <a:t>68 × 13 = 884</a:t>
            </a:r>
          </a:p>
          <a:p>
            <a:r>
              <a:rPr lang="en-US" sz="2400" dirty="0" smtClean="0"/>
              <a:t>68 × 57 = 3876</a:t>
            </a:r>
          </a:p>
          <a:p>
            <a:r>
              <a:rPr lang="en-US" sz="2400" dirty="0" smtClean="0"/>
              <a:t> 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 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Step 4: Combine the answers</a:t>
            </a:r>
            <a:endParaRPr lang="en-US" sz="2400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Answer</a:t>
            </a:r>
            <a:r>
              <a:rPr lang="en-US" sz="2400" dirty="0" smtClean="0"/>
              <a:t>=(ac×10000)+(</a:t>
            </a:r>
            <a:r>
              <a:rPr lang="en-US" sz="2400" dirty="0" err="1" smtClean="0"/>
              <a:t>ad+bc</a:t>
            </a:r>
            <a:r>
              <a:rPr lang="en-US" sz="2400" dirty="0" smtClean="0"/>
              <a:t>)×100+bd​ </a:t>
            </a:r>
          </a:p>
          <a:p>
            <a:r>
              <a:rPr lang="en-US" sz="2400" dirty="0" smtClean="0"/>
              <a:t>For our example:</a:t>
            </a:r>
          </a:p>
          <a:p>
            <a:r>
              <a:rPr lang="en-US" sz="2400" dirty="0" smtClean="0"/>
              <a:t>ac = 312</a:t>
            </a:r>
          </a:p>
          <a:p>
            <a:r>
              <a:rPr lang="en-US" sz="2400" dirty="0" smtClean="0"/>
              <a:t>ad = 1368</a:t>
            </a:r>
          </a:p>
          <a:p>
            <a:r>
              <a:rPr lang="en-US" sz="2400" dirty="0" err="1" smtClean="0"/>
              <a:t>bc</a:t>
            </a:r>
            <a:r>
              <a:rPr lang="en-US" sz="2400" dirty="0" smtClean="0"/>
              <a:t> = 884</a:t>
            </a:r>
          </a:p>
          <a:p>
            <a:r>
              <a:rPr lang="en-US" sz="2400" dirty="0" err="1" smtClean="0"/>
              <a:t>bd</a:t>
            </a:r>
            <a:r>
              <a:rPr lang="en-US" sz="2400" dirty="0" smtClean="0"/>
              <a:t> = </a:t>
            </a:r>
            <a:r>
              <a:rPr lang="en-US" sz="2400" dirty="0" smtClean="0"/>
              <a:t>3876</a:t>
            </a:r>
          </a:p>
          <a:p>
            <a:endParaRPr lang="en-US" sz="2400" dirty="0" smtClean="0"/>
          </a:p>
          <a:p>
            <a:r>
              <a:rPr lang="en-US" sz="2400" dirty="0" smtClean="0"/>
              <a:t>Therefore:</a:t>
            </a:r>
          </a:p>
          <a:p>
            <a:r>
              <a:rPr lang="en-US" sz="2400" dirty="0" smtClean="0"/>
              <a:t>2468×1357 =312×10000+(1368+884)×100+3876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 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Step 5: Calculate the middle part</a:t>
            </a:r>
            <a:endParaRPr lang="en-US" sz="2400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First:</a:t>
            </a:r>
          </a:p>
          <a:p>
            <a:r>
              <a:rPr lang="en-US" sz="2400" dirty="0" smtClean="0"/>
              <a:t>1368+884 </a:t>
            </a:r>
          </a:p>
          <a:p>
            <a:r>
              <a:rPr lang="en-US" sz="2400" dirty="0" smtClean="0"/>
              <a:t>  1368</a:t>
            </a:r>
          </a:p>
          <a:p>
            <a:r>
              <a:rPr lang="en-US" sz="2400" dirty="0" smtClean="0"/>
              <a:t>+  884</a:t>
            </a:r>
          </a:p>
          <a:p>
            <a:r>
              <a:rPr lang="en-US" sz="2400" dirty="0" smtClean="0"/>
              <a:t>------</a:t>
            </a:r>
          </a:p>
          <a:p>
            <a:r>
              <a:rPr lang="en-US" sz="2400" dirty="0" smtClean="0"/>
              <a:t>  2252</a:t>
            </a:r>
          </a:p>
          <a:p>
            <a:r>
              <a:rPr lang="en-US" sz="2400" dirty="0" smtClean="0"/>
              <a:t>So:</a:t>
            </a:r>
          </a:p>
          <a:p>
            <a:r>
              <a:rPr lang="en-US" sz="2400" dirty="0" smtClean="0"/>
              <a:t>=312×10000+2252×100+3876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 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Step 6: Calculate each part</a:t>
            </a:r>
            <a:endParaRPr lang="en-US" sz="2400" dirty="0" smtClean="0">
              <a:solidFill>
                <a:srgbClr val="FF0000"/>
              </a:solidFill>
            </a:endParaRPr>
          </a:p>
          <a:p>
            <a:r>
              <a:rPr lang="en-US" sz="2400" b="1" dirty="0" smtClean="0"/>
              <a:t>First part</a:t>
            </a:r>
            <a:endParaRPr lang="en-US" sz="2400" dirty="0" smtClean="0"/>
          </a:p>
          <a:p>
            <a:r>
              <a:rPr lang="en-US" sz="2400" dirty="0" smtClean="0"/>
              <a:t>312×10000=3,120,000 </a:t>
            </a:r>
          </a:p>
          <a:p>
            <a:r>
              <a:rPr lang="en-US" sz="2400" b="1" dirty="0" smtClean="0"/>
              <a:t>Second part</a:t>
            </a:r>
            <a:endParaRPr lang="en-US" sz="2400" dirty="0" smtClean="0"/>
          </a:p>
          <a:p>
            <a:r>
              <a:rPr lang="en-US" sz="2400" dirty="0" smtClean="0"/>
              <a:t>2252×100=225,200 </a:t>
            </a:r>
          </a:p>
          <a:p>
            <a:r>
              <a:rPr lang="en-US" sz="2400" b="1" dirty="0" smtClean="0"/>
              <a:t>Third part</a:t>
            </a:r>
            <a:endParaRPr lang="en-US" sz="2400" dirty="0" smtClean="0"/>
          </a:p>
          <a:p>
            <a:r>
              <a:rPr lang="en-US" sz="2400" dirty="0" smtClean="0"/>
              <a:t>3876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 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Step 7: Add everything</a:t>
            </a:r>
            <a:endParaRPr lang="en-US" sz="2400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   3,120,000</a:t>
            </a:r>
          </a:p>
          <a:p>
            <a:r>
              <a:rPr lang="en-US" sz="2400" dirty="0" smtClean="0"/>
              <a:t>     225,200</a:t>
            </a:r>
          </a:p>
          <a:p>
            <a:r>
              <a:rPr lang="en-US" sz="2400" dirty="0" smtClean="0"/>
              <a:t>       3,876</a:t>
            </a:r>
          </a:p>
          <a:p>
            <a:r>
              <a:rPr lang="en-US" sz="2400" dirty="0" smtClean="0"/>
              <a:t>-------------</a:t>
            </a:r>
          </a:p>
          <a:p>
            <a:r>
              <a:rPr lang="en-US" sz="2400" smtClean="0"/>
              <a:t>   </a:t>
            </a:r>
            <a:r>
              <a:rPr lang="en-US" sz="2400" smtClean="0"/>
              <a:t>3,349,076</a:t>
            </a:r>
          </a:p>
          <a:p>
            <a:endParaRPr lang="en-US" sz="2400" dirty="0" smtClean="0"/>
          </a:p>
          <a:p>
            <a:r>
              <a:rPr lang="en-US" sz="2400" dirty="0" smtClean="0"/>
              <a:t>Therefore:</a:t>
            </a:r>
          </a:p>
          <a:p>
            <a:r>
              <a:rPr lang="en-US" sz="2400" dirty="0" smtClean="0"/>
              <a:t>2468×1357=3,349,076​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00B050"/>
                </a:solidFill>
              </a:rPr>
              <a:t>Overview:</a:t>
            </a:r>
            <a:r>
              <a:rPr lang="en-US" sz="2400" dirty="0" smtClean="0">
                <a:solidFill>
                  <a:srgbClr val="FF0000"/>
                </a:solidFill>
              </a:rPr>
              <a:t> 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2468 × 1357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      ↓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24 | 68     13 | 57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      ↓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      ↓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24×13 = 312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24×57 = 1368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68×13 = 884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68×57 = 3876</a:t>
            </a:r>
          </a:p>
          <a:p>
            <a:r>
              <a:rPr lang="en-US" sz="2400" b="1" dirty="0" smtClean="0"/>
              <a:t>      </a:t>
            </a:r>
            <a:r>
              <a:rPr lang="en-US" sz="2400" b="1" dirty="0" smtClean="0"/>
              <a:t>↓</a:t>
            </a:r>
            <a:endParaRPr lang="en-US" sz="2400" b="1" dirty="0" smtClean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 </a:t>
            </a:r>
            <a:r>
              <a:rPr lang="en-US" sz="2400" dirty="0" smtClean="0"/>
              <a:t>      </a:t>
            </a:r>
            <a:r>
              <a:rPr lang="en-US" sz="2400" dirty="0" smtClean="0"/>
              <a:t>↓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312×10000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+ (1368+884)×100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+ 3876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      ↓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3,120,000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+ 225,200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+ 3,876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      ↓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3,349,076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 </a:t>
            </a:r>
            <a:r>
              <a:rPr lang="en-US" sz="2400" dirty="0" smtClean="0"/>
              <a:t>     </a:t>
            </a:r>
            <a:endParaRPr lang="en-US" sz="2400" dirty="0" smtClean="0"/>
          </a:p>
          <a:p>
            <a:r>
              <a:rPr lang="en-US" sz="2400" b="1" dirty="0" smtClean="0">
                <a:solidFill>
                  <a:srgbClr val="FF0000"/>
                </a:solidFill>
              </a:rPr>
              <a:t>Final Answer</a:t>
            </a:r>
            <a:r>
              <a:rPr lang="en-US" sz="2400" b="1" dirty="0" smtClean="0">
                <a:solidFill>
                  <a:srgbClr val="FF0000"/>
                </a:solidFill>
              </a:rPr>
              <a:t>:</a:t>
            </a:r>
          </a:p>
          <a:p>
            <a:endParaRPr lang="en-US" sz="2400" b="1" dirty="0" smtClean="0">
              <a:solidFill>
                <a:srgbClr val="00B050"/>
              </a:solidFill>
            </a:endParaRPr>
          </a:p>
          <a:p>
            <a:r>
              <a:rPr lang="en-US" sz="2400" b="1" dirty="0" smtClean="0">
                <a:solidFill>
                  <a:srgbClr val="00B050"/>
                </a:solidFill>
              </a:rPr>
              <a:t>2468×1357=3,349,076​ </a:t>
            </a:r>
          </a:p>
          <a:p>
            <a:r>
              <a:rPr lang="en-US" sz="2400" dirty="0" smtClean="0"/>
              <a:t>The key idea from your slide is: </a:t>
            </a:r>
            <a:r>
              <a:rPr lang="en-US" sz="2400" b="1" dirty="0" smtClean="0"/>
              <a:t>Split → 4 small multiplications → Combine → One final integer.</a:t>
            </a:r>
            <a:r>
              <a:rPr lang="en-US" sz="2400" dirty="0" smtClean="0"/>
              <a:t> </a:t>
            </a:r>
          </a:p>
          <a:p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10. A Very Simple Way to Recursion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BIG NUMBER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↓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SPLIT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↓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SMALLER NUMBERS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↓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SPLIT AGAIN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↓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SINGLE DIGITS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↓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MULTIPLY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↓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COMBINE RESULTS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For Example:</a:t>
            </a:r>
          </a:p>
          <a:p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b="1" dirty="0" smtClean="0"/>
              <a:t>1234 × 5678</a:t>
            </a:r>
          </a:p>
          <a:p>
            <a:r>
              <a:rPr lang="en-US" sz="2400" b="1" dirty="0" smtClean="0"/>
              <a:t>      ↓</a:t>
            </a:r>
          </a:p>
          <a:p>
            <a:r>
              <a:rPr lang="en-US" sz="2400" b="1" dirty="0" smtClean="0"/>
              <a:t>12×56, 12×78, 34×56, 34×78</a:t>
            </a:r>
          </a:p>
          <a:p>
            <a:r>
              <a:rPr lang="en-US" sz="2400" b="1" dirty="0" smtClean="0"/>
              <a:t>      ↓</a:t>
            </a:r>
          </a:p>
          <a:p>
            <a:r>
              <a:rPr lang="en-US" sz="2400" b="1" dirty="0" smtClean="0"/>
              <a:t>1×5, 1×6, 2×5, 2×6, ...</a:t>
            </a:r>
          </a:p>
          <a:p>
            <a:r>
              <a:rPr lang="en-US" sz="2400" b="1" dirty="0" smtClean="0"/>
              <a:t>      ↓</a:t>
            </a:r>
          </a:p>
          <a:p>
            <a:r>
              <a:rPr lang="en-US" sz="2400" b="1" dirty="0" smtClean="0"/>
              <a:t>Single-digit multiplication</a:t>
            </a:r>
          </a:p>
          <a:p>
            <a:r>
              <a:rPr lang="en-US" sz="2400" b="1" dirty="0" smtClean="0"/>
              <a:t>      ↓</a:t>
            </a:r>
          </a:p>
          <a:p>
            <a:r>
              <a:rPr lang="en-US" sz="2400" b="1" dirty="0" smtClean="0"/>
              <a:t>Combine</a:t>
            </a:r>
          </a:p>
          <a:p>
            <a:r>
              <a:rPr lang="en-US" sz="2400" b="1" dirty="0" smtClean="0"/>
              <a:t>      ↓</a:t>
            </a:r>
          </a:p>
          <a:p>
            <a:r>
              <a:rPr lang="en-US" sz="2400" b="1" dirty="0" smtClean="0"/>
              <a:t>1234 × 5678 = 7006652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 smtClean="0">
                <a:solidFill>
                  <a:srgbClr val="FF0000"/>
                </a:solidFill>
              </a:rPr>
              <a:t>IInd</a:t>
            </a:r>
            <a:r>
              <a:rPr lang="en-US" sz="2400" b="1" dirty="0" smtClean="0">
                <a:solidFill>
                  <a:srgbClr val="FF0000"/>
                </a:solidFill>
              </a:rPr>
              <a:t> Problem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 smtClean="0"/>
              <a:t>Large Integer Multiplication Using Divide and Conquer</a:t>
            </a:r>
          </a:p>
          <a:p>
            <a:r>
              <a:rPr lang="en-US" sz="2400" dirty="0" smtClean="0"/>
              <a:t>We need to multiply two very large integers:</a:t>
            </a:r>
          </a:p>
          <a:p>
            <a:r>
              <a:rPr lang="en-US" sz="2400" b="1" dirty="0" smtClean="0"/>
              <a:t>First number = 3141592653589793</a:t>
            </a:r>
            <a:endParaRPr lang="en-US" sz="2400" dirty="0" smtClean="0"/>
          </a:p>
          <a:p>
            <a:r>
              <a:rPr lang="en-US" sz="2400" b="1" dirty="0" smtClean="0"/>
              <a:t>Second number = 2718281828459045</a:t>
            </a:r>
            <a:endParaRPr lang="en-US" sz="2400" dirty="0" smtClean="0"/>
          </a:p>
          <a:p>
            <a:r>
              <a:rPr lang="en-US" sz="2400" dirty="0" smtClean="0"/>
              <a:t>We will use the </a:t>
            </a:r>
            <a:r>
              <a:rPr lang="en-US" sz="2400" b="1" dirty="0" smtClean="0"/>
              <a:t>same Divide and Conquer procedure</a:t>
            </a:r>
            <a:r>
              <a:rPr lang="en-US" sz="2400" dirty="0" smtClean="0"/>
              <a:t> step by step.</a:t>
            </a:r>
          </a:p>
          <a:p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1. Divide the Large Numbers</a:t>
            </a:r>
          </a:p>
          <a:p>
            <a:r>
              <a:rPr lang="en-US" sz="2400" dirty="0" smtClean="0"/>
              <a:t>We have: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3141592653589793 × 2718281828459045</a:t>
            </a:r>
            <a:endParaRPr lang="en-US" sz="2400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Each number has </a:t>
            </a:r>
            <a:r>
              <a:rPr lang="en-US" sz="2400" b="1" dirty="0" smtClean="0"/>
              <a:t>16 digits</a:t>
            </a:r>
            <a:r>
              <a:rPr lang="en-US" sz="2400" dirty="0" smtClean="0"/>
              <a:t>, so divide each number into two equal parts.</a:t>
            </a:r>
          </a:p>
          <a:p>
            <a:r>
              <a:rPr lang="en-US" sz="2400" b="1" dirty="0" smtClean="0"/>
              <a:t>First number</a:t>
            </a:r>
          </a:p>
          <a:p>
            <a:r>
              <a:rPr lang="en-US" sz="2400" b="1" dirty="0" smtClean="0"/>
              <a:t>3141592653589793 → 31415926 | 53589793</a:t>
            </a:r>
            <a:endParaRPr lang="en-US" sz="2400" dirty="0" smtClean="0"/>
          </a:p>
          <a:p>
            <a:r>
              <a:rPr lang="en-US" sz="2400" dirty="0" smtClean="0"/>
              <a:t>Therefore:</a:t>
            </a:r>
          </a:p>
          <a:p>
            <a:r>
              <a:rPr lang="en-US" sz="2400" b="1" dirty="0" smtClean="0"/>
              <a:t>3141592653589793 = 31415926 × 10⁸ + 53589793</a:t>
            </a:r>
            <a:endParaRPr lang="en-US" sz="2400" dirty="0" smtClean="0"/>
          </a:p>
          <a:p>
            <a:r>
              <a:rPr lang="en-US" sz="2400" b="1" dirty="0" smtClean="0"/>
              <a:t>Second number</a:t>
            </a:r>
          </a:p>
          <a:p>
            <a:r>
              <a:rPr lang="en-US" sz="2400" b="1" dirty="0" smtClean="0"/>
              <a:t>2718281828459045 → 27182818 | 28459045</a:t>
            </a:r>
            <a:endParaRPr lang="en-US" sz="2400" dirty="0" smtClean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Therefore</a:t>
            </a:r>
          </a:p>
          <a:p>
            <a:r>
              <a:rPr lang="en-US" sz="2400" b="1" dirty="0" smtClean="0"/>
              <a:t>2718281828459045 = 27182818 × 10⁸ + 28459045</a:t>
            </a:r>
            <a:endParaRPr lang="en-US" sz="2400" dirty="0" smtClean="0"/>
          </a:p>
          <a:p>
            <a:r>
              <a:rPr lang="en-US" sz="2400" dirty="0" smtClean="0"/>
              <a:t>So let:</a:t>
            </a:r>
          </a:p>
          <a:p>
            <a:r>
              <a:rPr lang="en-US" sz="2400" b="1" dirty="0" smtClean="0"/>
              <a:t>a = 31415926</a:t>
            </a:r>
            <a:r>
              <a:rPr lang="en-US" sz="2400" dirty="0" smtClean="0"/>
              <a:t> </a:t>
            </a:r>
          </a:p>
          <a:p>
            <a:r>
              <a:rPr lang="en-US" sz="2400" b="1" dirty="0" smtClean="0"/>
              <a:t>b = 53589793</a:t>
            </a:r>
            <a:r>
              <a:rPr lang="en-US" sz="2400" dirty="0" smtClean="0"/>
              <a:t> </a:t>
            </a:r>
          </a:p>
          <a:p>
            <a:r>
              <a:rPr lang="en-US" sz="2400" b="1" dirty="0" smtClean="0"/>
              <a:t>c = 27182818</a:t>
            </a:r>
            <a:r>
              <a:rPr lang="en-US" sz="2400" dirty="0" smtClean="0"/>
              <a:t> </a:t>
            </a:r>
          </a:p>
          <a:p>
            <a:r>
              <a:rPr lang="en-US" sz="2400" b="1" dirty="0" smtClean="0"/>
              <a:t>d = 28459045</a:t>
            </a:r>
            <a:r>
              <a:rPr lang="en-US" sz="2400" dirty="0" smtClean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2. Apply the Divide and Conquer Formula</a:t>
            </a:r>
          </a:p>
          <a:p>
            <a:r>
              <a:rPr lang="en-US" sz="2400" dirty="0" smtClean="0"/>
              <a:t>We use:</a:t>
            </a:r>
          </a:p>
          <a:p>
            <a:r>
              <a:rPr lang="en-US" sz="2400" b="1" dirty="0" smtClean="0"/>
              <a:t>A × B = ac × 10¹⁶ + (ad + </a:t>
            </a:r>
            <a:r>
              <a:rPr lang="en-US" sz="2400" b="1" dirty="0" err="1" smtClean="0"/>
              <a:t>bc</a:t>
            </a:r>
            <a:r>
              <a:rPr lang="en-US" sz="2400" b="1" dirty="0" smtClean="0"/>
              <a:t>) × 10⁸ + </a:t>
            </a:r>
            <a:r>
              <a:rPr lang="en-US" sz="2400" b="1" dirty="0" err="1" smtClean="0"/>
              <a:t>bd</a:t>
            </a:r>
            <a:endParaRPr lang="en-US" sz="2400" dirty="0" smtClean="0"/>
          </a:p>
          <a:p>
            <a:r>
              <a:rPr lang="en-US" sz="2400" dirty="0" smtClean="0"/>
              <a:t>Therefore, we need four smaller multiplications:</a:t>
            </a:r>
          </a:p>
          <a:p>
            <a:r>
              <a:rPr lang="en-US" sz="2400" b="1" dirty="0" smtClean="0"/>
              <a:t>ac = 31415926 × 27182818</a:t>
            </a:r>
            <a:r>
              <a:rPr lang="en-US" sz="2400" dirty="0" smtClean="0"/>
              <a:t> </a:t>
            </a:r>
          </a:p>
          <a:p>
            <a:r>
              <a:rPr lang="en-US" sz="2400" b="1" dirty="0" smtClean="0"/>
              <a:t>ad = 31415926 × 28459045</a:t>
            </a:r>
            <a:r>
              <a:rPr lang="en-US" sz="2400" dirty="0" smtClean="0"/>
              <a:t> </a:t>
            </a:r>
          </a:p>
          <a:p>
            <a:r>
              <a:rPr lang="en-US" sz="2400" b="1" dirty="0" err="1" smtClean="0"/>
              <a:t>bc</a:t>
            </a:r>
            <a:r>
              <a:rPr lang="en-US" sz="2400" b="1" dirty="0" smtClean="0"/>
              <a:t> = 53589793 × 27182818</a:t>
            </a:r>
            <a:r>
              <a:rPr lang="en-US" sz="2400" dirty="0" smtClean="0"/>
              <a:t> </a:t>
            </a:r>
          </a:p>
          <a:p>
            <a:r>
              <a:rPr lang="en-US" sz="2400" b="1" dirty="0" err="1" smtClean="0"/>
              <a:t>bd</a:t>
            </a:r>
            <a:r>
              <a:rPr lang="en-US" sz="2400" b="1" dirty="0" smtClean="0"/>
              <a:t> = 53589793 × 28459045</a:t>
            </a:r>
            <a:r>
              <a:rPr lang="en-US" sz="2400" dirty="0" smtClean="0"/>
              <a:t> </a:t>
            </a:r>
          </a:p>
          <a:p>
            <a:r>
              <a:rPr lang="en-US" sz="2400" dirty="0" smtClean="0"/>
              <a:t>These are much smaller than the original multiplication.</a:t>
            </a:r>
          </a:p>
          <a:p>
            <a:r>
              <a:rPr lang="en-US" sz="2400" dirty="0" smtClean="0"/>
              <a:t>This is the </a:t>
            </a:r>
            <a:r>
              <a:rPr lang="en-US" sz="2400" b="1" dirty="0" smtClean="0"/>
              <a:t>Divide step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3. Solve the Smaller Multiplications</a:t>
            </a:r>
          </a:p>
          <a:p>
            <a:r>
              <a:rPr lang="en-US" sz="2400" dirty="0" smtClean="0"/>
              <a:t>Now calculate the four products:</a:t>
            </a:r>
          </a:p>
          <a:p>
            <a:r>
              <a:rPr lang="en-US" sz="2400" b="1" dirty="0" smtClean="0"/>
              <a:t>1. Calculate ac</a:t>
            </a:r>
          </a:p>
          <a:p>
            <a:r>
              <a:rPr lang="en-US" sz="2400" b="1" dirty="0" smtClean="0"/>
              <a:t>31415926 × 27182818 = 8,539,734,168,467,868</a:t>
            </a:r>
            <a:endParaRPr lang="en-US" sz="2400" dirty="0" smtClean="0"/>
          </a:p>
          <a:p>
            <a:r>
              <a:rPr lang="en-US" sz="2400" b="1" dirty="0" smtClean="0"/>
              <a:t>2. Calculate ad</a:t>
            </a:r>
          </a:p>
          <a:p>
            <a:r>
              <a:rPr lang="en-US" sz="2400" b="1" dirty="0" smtClean="0"/>
              <a:t>31415926 × 28459045 = 8,940,665,929,684,070</a:t>
            </a:r>
            <a:endParaRPr lang="en-US" sz="2400" dirty="0" smtClean="0"/>
          </a:p>
          <a:p>
            <a:r>
              <a:rPr lang="en-US" sz="2400" b="1" dirty="0" smtClean="0"/>
              <a:t>3. Calculate </a:t>
            </a:r>
            <a:r>
              <a:rPr lang="en-US" sz="2400" b="1" dirty="0" err="1" smtClean="0"/>
              <a:t>bc</a:t>
            </a:r>
            <a:endParaRPr lang="en-US" sz="2400" b="1" dirty="0" smtClean="0"/>
          </a:p>
          <a:p>
            <a:r>
              <a:rPr lang="en-US" sz="2400" b="1" dirty="0" smtClean="0"/>
              <a:t>53589793 × 27182818 = 14,563,391,247,496,674</a:t>
            </a:r>
            <a:endParaRPr lang="en-US" sz="2400" dirty="0" smtClean="0"/>
          </a:p>
          <a:p>
            <a:r>
              <a:rPr lang="en-US" sz="2400" b="1" dirty="0" smtClean="0"/>
              <a:t>4. Calculate </a:t>
            </a:r>
            <a:r>
              <a:rPr lang="en-US" sz="2400" b="1" dirty="0" err="1" smtClean="0"/>
              <a:t>bd</a:t>
            </a:r>
            <a:endParaRPr lang="en-US" sz="2400" b="1" dirty="0" smtClean="0"/>
          </a:p>
          <a:p>
            <a:r>
              <a:rPr lang="en-US" sz="2400" b="1" dirty="0" smtClean="0"/>
              <a:t>53589793 × 28459045 = 15,248,013,192,112,405</a:t>
            </a:r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4. Substitute the Values</a:t>
            </a:r>
          </a:p>
          <a:p>
            <a:r>
              <a:rPr lang="en-US" sz="2400" dirty="0" smtClean="0"/>
              <a:t>Our formula is:</a:t>
            </a:r>
          </a:p>
          <a:p>
            <a:r>
              <a:rPr lang="en-US" sz="2400" b="1" dirty="0" smtClean="0"/>
              <a:t>A × B = ac × 10¹⁶ + (ad + </a:t>
            </a:r>
            <a:r>
              <a:rPr lang="en-US" sz="2400" b="1" dirty="0" err="1" smtClean="0"/>
              <a:t>bc</a:t>
            </a:r>
            <a:r>
              <a:rPr lang="en-US" sz="2400" b="1" dirty="0" smtClean="0"/>
              <a:t>) × 10⁸ + </a:t>
            </a:r>
            <a:r>
              <a:rPr lang="en-US" sz="2400" b="1" dirty="0" err="1" smtClean="0"/>
              <a:t>bd</a:t>
            </a:r>
            <a:endParaRPr lang="en-US" sz="2400" dirty="0" smtClean="0"/>
          </a:p>
          <a:p>
            <a:r>
              <a:rPr lang="en-US" sz="2400" dirty="0" smtClean="0"/>
              <a:t>Substitute the values:</a:t>
            </a:r>
          </a:p>
          <a:p>
            <a:r>
              <a:rPr lang="en-US" sz="2400" b="1" dirty="0" smtClean="0"/>
              <a:t>= 8,539,734,168,467,868 × 10¹⁶</a:t>
            </a:r>
            <a:endParaRPr lang="en-US" sz="2400" dirty="0" smtClean="0"/>
          </a:p>
          <a:p>
            <a:r>
              <a:rPr lang="en-US" sz="2400" b="1" dirty="0" smtClean="0"/>
              <a:t>+ (8,940,665,929,684,070 + 14,563,391,247,496,674) × 10⁸</a:t>
            </a:r>
            <a:endParaRPr lang="en-US" sz="2400" dirty="0" smtClean="0"/>
          </a:p>
          <a:p>
            <a:r>
              <a:rPr lang="en-US" sz="2400" b="1" dirty="0" smtClean="0"/>
              <a:t>+ 15,248,013,192,112,405</a:t>
            </a:r>
            <a:endParaRPr lang="en-US" sz="2400" dirty="0" smtClean="0"/>
          </a:p>
          <a:p>
            <a:r>
              <a:rPr lang="en-US" sz="2400" dirty="0" smtClean="0"/>
              <a:t>First calculate:</a:t>
            </a:r>
          </a:p>
          <a:p>
            <a:r>
              <a:rPr lang="en-US" sz="2400" b="1" dirty="0" smtClean="0"/>
              <a:t>ad + </a:t>
            </a:r>
            <a:r>
              <a:rPr lang="en-US" sz="2400" b="1" dirty="0" err="1" smtClean="0"/>
              <a:t>bc</a:t>
            </a:r>
            <a:endParaRPr lang="en-US" sz="2400" dirty="0" smtClean="0"/>
          </a:p>
          <a:p>
            <a:r>
              <a:rPr lang="en-US" sz="2400" b="1" dirty="0" smtClean="0"/>
              <a:t>= 8,940,665,929,684,070 + 14,563,391,247,496,674</a:t>
            </a:r>
            <a:endParaRPr lang="en-US" sz="2400" dirty="0" smtClean="0"/>
          </a:p>
          <a:p>
            <a:r>
              <a:rPr lang="en-US" sz="2400" b="1" dirty="0" smtClean="0"/>
              <a:t>= 23,504,057,177,180,744</a:t>
            </a:r>
            <a:endParaRPr lang="en-US" sz="2400" dirty="0" smtClean="0"/>
          </a:p>
          <a:p>
            <a:r>
              <a:rPr lang="en-US" sz="2400" dirty="0" smtClean="0"/>
              <a:t>Therefore:</a:t>
            </a:r>
          </a:p>
          <a:p>
            <a:r>
              <a:rPr lang="en-US" sz="2400" b="1" dirty="0" smtClean="0"/>
              <a:t>= 8,539,734,168,467,868 × 10¹⁶</a:t>
            </a:r>
            <a:endParaRPr lang="en-US" sz="2400" dirty="0" smtClean="0"/>
          </a:p>
          <a:p>
            <a:r>
              <a:rPr lang="en-US" sz="2400" b="1" dirty="0" smtClean="0"/>
              <a:t>+ 23,504,057,177,180,744 × 10⁸</a:t>
            </a:r>
            <a:endParaRPr lang="en-US" sz="2400" dirty="0" smtClean="0"/>
          </a:p>
          <a:p>
            <a:r>
              <a:rPr lang="en-US" sz="2400" b="1" dirty="0" smtClean="0"/>
              <a:t>+ 15,248,013,192,112,405</a:t>
            </a:r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5. Final Calculation</a:t>
            </a:r>
          </a:p>
          <a:p>
            <a:r>
              <a:rPr lang="en-US" sz="2400" dirty="0" smtClean="0"/>
              <a:t>Now:</a:t>
            </a:r>
          </a:p>
          <a:p>
            <a:r>
              <a:rPr lang="en-US" sz="2400" b="1" dirty="0" smtClean="0"/>
              <a:t>8,539,734,168,467,868 × 10¹⁶</a:t>
            </a:r>
            <a:endParaRPr lang="en-US" sz="2400" dirty="0" smtClean="0"/>
          </a:p>
          <a:p>
            <a:r>
              <a:rPr lang="en-US" sz="2400" dirty="0" smtClean="0"/>
              <a:t>= </a:t>
            </a:r>
            <a:r>
              <a:rPr lang="en-US" sz="2400" b="1" dirty="0" smtClean="0"/>
              <a:t>85,397,341,684,678,680,000,000,000,000,000</a:t>
            </a:r>
            <a:endParaRPr lang="en-US" sz="2400" dirty="0" smtClean="0"/>
          </a:p>
          <a:p>
            <a:r>
              <a:rPr lang="en-US" sz="2400" dirty="0" smtClean="0"/>
              <a:t>And:</a:t>
            </a:r>
          </a:p>
          <a:p>
            <a:r>
              <a:rPr lang="en-US" sz="2400" b="1" dirty="0" smtClean="0"/>
              <a:t>23,504,057,177,180,744 × 10⁸</a:t>
            </a:r>
            <a:endParaRPr lang="en-US" sz="2400" dirty="0" smtClean="0"/>
          </a:p>
          <a:p>
            <a:r>
              <a:rPr lang="en-US" sz="2400" dirty="0" smtClean="0"/>
              <a:t>= </a:t>
            </a:r>
            <a:r>
              <a:rPr lang="en-US" sz="2400" b="1" dirty="0" smtClean="0"/>
              <a:t>2,350,405,717,718,074,400,000,000</a:t>
            </a:r>
            <a:endParaRPr lang="en-US" sz="2400" dirty="0" smtClean="0"/>
          </a:p>
          <a:p>
            <a:endParaRPr lang="en-US" sz="2400" dirty="0" smtClean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Now add all three parts:</a:t>
            </a:r>
          </a:p>
          <a:p>
            <a:r>
              <a:rPr lang="en-US" sz="2400" dirty="0" smtClean="0"/>
              <a:t>85,397,341,684,678,680,000,000,000,000,000</a:t>
            </a:r>
          </a:p>
          <a:p>
            <a:r>
              <a:rPr lang="en-US" sz="2400" dirty="0" smtClean="0"/>
              <a:t>     2,350,405,717,718,074,400,000,000</a:t>
            </a:r>
          </a:p>
          <a:p>
            <a:r>
              <a:rPr lang="en-US" sz="2400" dirty="0" smtClean="0"/>
              <a:t>            15,248,013,192,112,405</a:t>
            </a:r>
          </a:p>
          <a:p>
            <a:r>
              <a:rPr lang="en-US" sz="2400" dirty="0" smtClean="0"/>
              <a:t>------------------------------------------------</a:t>
            </a:r>
          </a:p>
          <a:p>
            <a:r>
              <a:rPr lang="en-US" sz="2400" dirty="0" smtClean="0"/>
              <a:t>85,397,342,226,735,656,778,487,305,276,85</a:t>
            </a:r>
          </a:p>
          <a:p>
            <a:endParaRPr lang="en-US" sz="2400" dirty="0" smtClean="0"/>
          </a:p>
          <a:p>
            <a:r>
              <a:rPr lang="en-US" sz="2400" dirty="0" smtClean="0"/>
              <a:t>Therefore:</a:t>
            </a:r>
          </a:p>
          <a:p>
            <a:r>
              <a:rPr lang="en-US" sz="2400" b="1" dirty="0" smtClean="0"/>
              <a:t>3141592653589793 × 2718281828459045</a:t>
            </a:r>
          </a:p>
          <a:p>
            <a:r>
              <a:rPr lang="en-US" sz="2400" b="1" dirty="0" smtClean="0"/>
              <a:t>= 8539734222673565677848730527685</a:t>
            </a:r>
          </a:p>
          <a:p>
            <a:endParaRPr lang="en-US" sz="2400" dirty="0" smtClean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6. Where is the Recursion?</a:t>
            </a:r>
          </a:p>
          <a:p>
            <a:r>
              <a:rPr lang="en-US" sz="2400" dirty="0" smtClean="0"/>
              <a:t>The important point is that we </a:t>
            </a:r>
            <a:r>
              <a:rPr lang="en-US" sz="2400" b="1" dirty="0" smtClean="0"/>
              <a:t>do not stop</a:t>
            </a:r>
            <a:r>
              <a:rPr lang="en-US" sz="2400" dirty="0" smtClean="0"/>
              <a:t> after getting:</a:t>
            </a:r>
          </a:p>
          <a:p>
            <a:r>
              <a:rPr lang="en-US" sz="2400" dirty="0" smtClean="0"/>
              <a:t>31415926 × 27182818 </a:t>
            </a:r>
          </a:p>
          <a:p>
            <a:r>
              <a:rPr lang="en-US" sz="2400" dirty="0" smtClean="0"/>
              <a:t>31415926 × 28459045 </a:t>
            </a:r>
          </a:p>
          <a:p>
            <a:r>
              <a:rPr lang="en-US" sz="2400" dirty="0" smtClean="0"/>
              <a:t>53589793 × 27182818 </a:t>
            </a:r>
          </a:p>
          <a:p>
            <a:r>
              <a:rPr lang="en-US" sz="2400" dirty="0" smtClean="0"/>
              <a:t>53589793 × 28459045 </a:t>
            </a:r>
          </a:p>
          <a:p>
            <a:r>
              <a:rPr lang="en-US" sz="2400" dirty="0" smtClean="0"/>
              <a:t>Each of these is </a:t>
            </a:r>
            <a:r>
              <a:rPr lang="en-US" sz="2400" b="1" dirty="0" smtClean="0"/>
              <a:t>again divided into smaller parts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For example:</a:t>
            </a:r>
          </a:p>
          <a:p>
            <a:r>
              <a:rPr lang="en-US" sz="2400" b="1" dirty="0" smtClean="0"/>
              <a:t>31415926 × 27182818</a:t>
            </a:r>
            <a:endParaRPr lang="en-US" sz="2400" dirty="0" smtClean="0"/>
          </a:p>
          <a:p>
            <a:endParaRPr lang="en-US" sz="2400" dirty="0" smtClean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can be divided as:</a:t>
            </a:r>
          </a:p>
          <a:p>
            <a:r>
              <a:rPr lang="en-US" sz="2400" dirty="0" smtClean="0"/>
              <a:t>31415926 → 3141 | 5926 27182818 → 2718 | 2818</a:t>
            </a:r>
          </a:p>
          <a:p>
            <a:r>
              <a:rPr lang="en-US" sz="2400" dirty="0" smtClean="0"/>
              <a:t>Then we get four smaller multiplications:</a:t>
            </a:r>
          </a:p>
          <a:p>
            <a:r>
              <a:rPr lang="en-US" sz="2400" dirty="0" smtClean="0"/>
              <a:t>3141 × 2718 </a:t>
            </a:r>
          </a:p>
          <a:p>
            <a:r>
              <a:rPr lang="en-US" sz="2400" dirty="0" smtClean="0"/>
              <a:t>3141 × 2818</a:t>
            </a:r>
          </a:p>
          <a:p>
            <a:r>
              <a:rPr lang="en-US" sz="2400" dirty="0" smtClean="0"/>
              <a:t> 5926 × 2718 </a:t>
            </a:r>
          </a:p>
          <a:p>
            <a:r>
              <a:rPr lang="en-US" sz="2400" dirty="0" smtClean="0"/>
              <a:t>5926 × 2818</a:t>
            </a:r>
          </a:p>
          <a:p>
            <a:r>
              <a:rPr lang="en-US" sz="2400" dirty="0" smtClean="0"/>
              <a:t>These are divided again.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Eventually, we reach </a:t>
            </a:r>
            <a:r>
              <a:rPr lang="en-US" sz="2400" b="1" dirty="0" smtClean="0"/>
              <a:t>single-digit multiplication</a:t>
            </a:r>
            <a:r>
              <a:rPr lang="en-US" sz="2400" dirty="0" smtClean="0"/>
              <a:t>.</a:t>
            </a:r>
          </a:p>
          <a:p>
            <a:r>
              <a:rPr lang="en-US" sz="2400" b="1" dirty="0" smtClean="0"/>
              <a:t>BIG NUMBER</a:t>
            </a:r>
          </a:p>
          <a:p>
            <a:r>
              <a:rPr lang="en-US" sz="2400" b="1" dirty="0" smtClean="0"/>
              <a:t>     ↓</a:t>
            </a:r>
          </a:p>
          <a:p>
            <a:r>
              <a:rPr lang="en-US" sz="2400" b="1" dirty="0" smtClean="0"/>
              <a:t>   SPLIT</a:t>
            </a:r>
          </a:p>
          <a:p>
            <a:r>
              <a:rPr lang="en-US" sz="2400" b="1" dirty="0" smtClean="0"/>
              <a:t>     ↓</a:t>
            </a:r>
          </a:p>
          <a:p>
            <a:r>
              <a:rPr lang="en-US" sz="2400" b="1" dirty="0" smtClean="0"/>
              <a:t>SMALLER NUMBERS</a:t>
            </a:r>
          </a:p>
          <a:p>
            <a:r>
              <a:rPr lang="en-US" sz="2400" b="1" dirty="0" smtClean="0"/>
              <a:t>     ↓</a:t>
            </a:r>
          </a:p>
          <a:p>
            <a:r>
              <a:rPr lang="en-US" sz="2400" b="1" dirty="0" smtClean="0"/>
              <a:t> SPLIT AGAIN</a:t>
            </a:r>
          </a:p>
          <a:p>
            <a:r>
              <a:rPr lang="en-US" sz="2400" b="1" dirty="0" smtClean="0"/>
              <a:t>     ↓</a:t>
            </a:r>
          </a:p>
          <a:p>
            <a:r>
              <a:rPr lang="en-US" sz="2400" b="1" dirty="0" smtClean="0"/>
              <a:t>EVEN SMALLER NUMBERS</a:t>
            </a:r>
          </a:p>
          <a:p>
            <a:r>
              <a:rPr lang="en-US" sz="2400" b="1" dirty="0" smtClean="0"/>
              <a:t>     ↓</a:t>
            </a:r>
          </a:p>
          <a:p>
            <a:r>
              <a:rPr lang="en-US" sz="2400" b="1" dirty="0" smtClean="0"/>
              <a:t>SINGLE DIGITS</a:t>
            </a:r>
          </a:p>
          <a:p>
            <a:r>
              <a:rPr lang="en-US" sz="2400" b="1" dirty="0" smtClean="0"/>
              <a:t>     ↓</a:t>
            </a:r>
          </a:p>
          <a:p>
            <a:r>
              <a:rPr lang="en-US" sz="2400" dirty="0" smtClean="0"/>
              <a:t>  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    ↓</a:t>
            </a:r>
          </a:p>
          <a:p>
            <a:r>
              <a:rPr lang="en-US" sz="2400" b="1" dirty="0" smtClean="0"/>
              <a:t>  MULTIPLY</a:t>
            </a:r>
          </a:p>
          <a:p>
            <a:r>
              <a:rPr lang="en-US" sz="2400" b="1" dirty="0" smtClean="0"/>
              <a:t>     ↓</a:t>
            </a:r>
          </a:p>
          <a:p>
            <a:r>
              <a:rPr lang="en-US" sz="2400" b="1" dirty="0" smtClean="0"/>
              <a:t>  COMBINE</a:t>
            </a:r>
          </a:p>
          <a:p>
            <a:r>
              <a:rPr lang="en-US" sz="2400" b="1" dirty="0" smtClean="0"/>
              <a:t>     ↓</a:t>
            </a:r>
          </a:p>
          <a:p>
            <a:r>
              <a:rPr lang="en-US" sz="2400" b="1" dirty="0" smtClean="0"/>
              <a:t>FINAL ANSWER</a:t>
            </a:r>
            <a:endParaRPr lang="en-US" sz="2400" b="1" dirty="0"/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49D65B-EACE-7B1F-B0F8-5BB96BFD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="" xmlns:a16="http://schemas.microsoft.com/office/drawing/2014/main" id="{05F542F9-0052-6FB3-6951-4611159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="" xmlns:a16="http://schemas.microsoft.com/office/drawing/2014/main" id="{577C5B17-F346-04C5-A9D6-28EB9B0A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6825BA55-5866-39A3-E252-BAE7410D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4A08CA1-2175-D149-D02F-5858ED4EC68E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E6A82FB7-D776-E913-B949-3165592FE0DB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857820F0-ABBA-B432-EE42-FFB22C70F403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DBC3D7AD-B2FA-964D-241F-5D4742E1730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82E46B0-3DA2-6EC3-2265-C8C09D5D5554}"/>
              </a:ext>
            </a:extLst>
          </p:cNvPr>
          <p:cNvSpPr/>
          <p:nvPr/>
        </p:nvSpPr>
        <p:spPr>
          <a:xfrm>
            <a:off x="2613991" y="208722"/>
            <a:ext cx="8140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Topic 1: Order Notion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9A7968E-C187-C31F-8FAF-0C7D2DDC8A1C}"/>
              </a:ext>
            </a:extLst>
          </p:cNvPr>
          <p:cNvSpPr/>
          <p:nvPr/>
        </p:nvSpPr>
        <p:spPr>
          <a:xfrm>
            <a:off x="536713" y="1125370"/>
            <a:ext cx="110721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Final Answer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3141592653589793 × 2718281828459045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= 8539734222673565677848730527685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332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4285</TotalTime>
  <Words>2072</Words>
  <Application>Microsoft Office PowerPoint</Application>
  <PresentationFormat>Custom</PresentationFormat>
  <Paragraphs>669</Paragraphs>
  <Slides>46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Sujoy  Saha</dc:creator>
  <cp:lastModifiedBy>HP</cp:lastModifiedBy>
  <cp:revision>247</cp:revision>
  <dcterms:created xsi:type="dcterms:W3CDTF">2025-01-02T14:33:31Z</dcterms:created>
  <dcterms:modified xsi:type="dcterms:W3CDTF">2026-08-24T06:53:09Z</dcterms:modified>
</cp:coreProperties>
</file>