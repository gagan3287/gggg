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45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0" y="-502920"/>
            <a:ext cx="3931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0" b="1" dirty="0">
                <a:solidFill>
                  <a:srgbClr val="1D5A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3A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QNSPL TRAINING PROGRAM  —  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21792" y="160020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 Scheduling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A9C7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Track — Week 2 of 11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343400"/>
            <a:ext cx="384048" cy="384048"/>
          </a:xfrm>
          <a:prstGeom prst="ellipse">
            <a:avLst/>
          </a:prstGeom>
          <a:solidFill>
            <a:srgbClr val="D3A62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43434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A9C7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— 2 OF 11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8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420624" cy="420624"/>
          </a:xfrm>
          <a:prstGeom prst="ellipse">
            <a:avLst/>
          </a:prstGeom>
          <a:solidFill>
            <a:srgbClr val="EEF4F4"/>
          </a:solidFill>
          <a:ln w="15875">
            <a:solidFill>
              <a:srgbClr val="D3A6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8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280160" y="1600200"/>
            <a:ext cx="7269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key scheduling criteria used to evaluate CPU schedulers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157984"/>
            <a:ext cx="420624" cy="420624"/>
          </a:xfrm>
          <a:prstGeom prst="ellipse">
            <a:avLst/>
          </a:prstGeom>
          <a:solidFill>
            <a:srgbClr val="EEF4F4"/>
          </a:solidFill>
          <a:ln w="15875">
            <a:solidFill>
              <a:srgbClr val="D3A6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57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8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80160" y="2112264"/>
            <a:ext cx="7269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waiting and turnaround time for FCFS, SJF, and Round Robin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2670048"/>
            <a:ext cx="420624" cy="420624"/>
          </a:xfrm>
          <a:prstGeom prst="ellipse">
            <a:avLst/>
          </a:prstGeom>
          <a:solidFill>
            <a:srgbClr val="EEF4F4"/>
          </a:solidFill>
          <a:ln w="15875">
            <a:solidFill>
              <a:srgbClr val="D3A6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8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280160" y="2624328"/>
            <a:ext cx="7269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convoy effect and why FCFS suffers from it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3182112"/>
            <a:ext cx="420624" cy="420624"/>
          </a:xfrm>
          <a:prstGeom prst="ellipse">
            <a:avLst/>
          </a:prstGeom>
          <a:solidFill>
            <a:srgbClr val="EEF4F4"/>
          </a:solidFill>
          <a:ln w="15875">
            <a:solidFill>
              <a:srgbClr val="D3A6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82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8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280160" y="3136392"/>
            <a:ext cx="7269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preemptive and non-preemptive scheduling algorithms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3694176"/>
            <a:ext cx="420624" cy="420624"/>
          </a:xfrm>
          <a:prstGeom prst="ellipse">
            <a:avLst/>
          </a:prstGeom>
          <a:solidFill>
            <a:srgbClr val="EEF4F4"/>
          </a:solidFill>
          <a:ln w="15875">
            <a:solidFill>
              <a:srgbClr val="D3A6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694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8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280160" y="3648456"/>
            <a:ext cx="7269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starvation and how aging solves it in priority scheduling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7200" y="481431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QNSPL Training  •  OS  •  Week 2: CPU Scheduling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55280" y="481431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Scheduling Criteria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utilization: keep the CPU as busy as possible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Throughput: number of processes completed per unit time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time: completion time minus arrival time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time: total time spent in the ready queue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time: time from submission until the first response (interactive systems)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23560" y="1097280"/>
            <a:ext cx="2971800" cy="3291840"/>
          </a:xfrm>
          <a:prstGeom prst="roundRect">
            <a:avLst>
              <a:gd name="adj" fmla="val 2462"/>
            </a:avLst>
          </a:prstGeom>
          <a:solidFill>
            <a:srgbClr val="EE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888736" y="2286000"/>
            <a:ext cx="429768" cy="731520"/>
          </a:xfrm>
          <a:prstGeom prst="roundRect">
            <a:avLst>
              <a:gd name="adj" fmla="val 12766"/>
            </a:avLst>
          </a:prstGeom>
          <a:solidFill>
            <a:srgbClr val="EEF4F4"/>
          </a:solidFill>
          <a:ln w="12700">
            <a:solidFill>
              <a:srgbClr val="D3A6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88736" y="2286000"/>
            <a:ext cx="429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2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391656" y="2286000"/>
            <a:ext cx="429768" cy="731520"/>
          </a:xfrm>
          <a:prstGeom prst="roundRect">
            <a:avLst>
              <a:gd name="adj" fmla="val 12766"/>
            </a:avLst>
          </a:prstGeom>
          <a:solidFill>
            <a:srgbClr val="EEF4F4"/>
          </a:solidFill>
          <a:ln w="12700">
            <a:solidFill>
              <a:srgbClr val="D3A6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91656" y="2286000"/>
            <a:ext cx="429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2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Through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94576" y="2286000"/>
            <a:ext cx="429768" cy="731520"/>
          </a:xfrm>
          <a:prstGeom prst="roundRect">
            <a:avLst>
              <a:gd name="adj" fmla="val 12766"/>
            </a:avLst>
          </a:prstGeom>
          <a:solidFill>
            <a:srgbClr val="EEF4F4"/>
          </a:solidFill>
          <a:ln w="12700">
            <a:solidFill>
              <a:srgbClr val="D3A6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94576" y="2286000"/>
            <a:ext cx="429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2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397496" y="2286000"/>
            <a:ext cx="429768" cy="731520"/>
          </a:xfrm>
          <a:prstGeom prst="roundRect">
            <a:avLst>
              <a:gd name="adj" fmla="val 12766"/>
            </a:avLst>
          </a:prstGeom>
          <a:solidFill>
            <a:srgbClr val="EEF4F4"/>
          </a:solidFill>
          <a:ln w="12700">
            <a:solidFill>
              <a:srgbClr val="D3A6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97496" y="2286000"/>
            <a:ext cx="429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2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900416" y="2286000"/>
            <a:ext cx="429768" cy="731520"/>
          </a:xfrm>
          <a:prstGeom prst="roundRect">
            <a:avLst>
              <a:gd name="adj" fmla="val 12766"/>
            </a:avLst>
          </a:prstGeom>
          <a:solidFill>
            <a:srgbClr val="EEF4F4"/>
          </a:solidFill>
          <a:ln w="12700">
            <a:solidFill>
              <a:srgbClr val="D3A6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0416" y="2286000"/>
            <a:ext cx="429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2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52160" y="34290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metrics every scheduler is judged against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81431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QNSPL Training  •  OS  •  Week 2: CPU Scheduling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955280" y="481431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FCFS: First-Come, First-Served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algorithm — processes run strictly in arrival order, non-preemptive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implement with a single FIFO queue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Suffers from the convoy effect: a long process at the front makes everyone behind it wait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waiting time is highly sensitive to process order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23560" y="1097280"/>
            <a:ext cx="2971800" cy="3291840"/>
          </a:xfrm>
          <a:prstGeom prst="roundRect">
            <a:avLst>
              <a:gd name="adj" fmla="val 2462"/>
            </a:avLst>
          </a:prstGeom>
          <a:solidFill>
            <a:srgbClr val="EE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852160" y="1280160"/>
            <a:ext cx="2514600" cy="2926080"/>
          </a:xfrm>
          <a:prstGeom prst="roundRect">
            <a:avLst>
              <a:gd name="adj" fmla="val 3636"/>
            </a:avLst>
          </a:prstGeom>
          <a:solidFill>
            <a:srgbClr val="13454A"/>
          </a:solidFill>
          <a:ln/>
          <a:effectLst>
            <a:outerShdw sx="100000" sy="100000" kx="0" ky="0" algn="bl" rotWithShape="0" blurRad="101600" dist="38100" dir="2700000">
              <a:srgbClr val="13454A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89320" y="1463040"/>
            <a:ext cx="2240280" cy="1697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3A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Convoy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80760" y="3269894"/>
            <a:ext cx="205740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C7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long CPU-bound process blocks a queue of short ones behind it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481431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QNSPL Training  •  OS  •  Week 2: CPU Scheduling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955280" y="481431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SJF: Shortest Job First (Non-Preemptive &amp; SRTF)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Non-preemptive SJF picks the process with the shortest next CPU burst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Provably optimal for minimizing average waiting time among non-preemptive algorithms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SRTF (Shortest Remaining Time First) is the preemptive version — a new shorter job can interrupt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knowing/predicting burst length in advance, which is rarely exact in practice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long processes can starve if short processes keep arriving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481431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QNSPL Training  •  OS  •  Week 2: CPU Scheduling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481431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FCFS &amp; Waiting Time Calculation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time = start time − arrival time; turnaround = completion − arrival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8046720" cy="2926080"/>
          </a:xfrm>
          <a:prstGeom prst="roundRect">
            <a:avLst>
              <a:gd name="adj" fmla="val 2500"/>
            </a:avLst>
          </a:prstGeom>
          <a:solidFill>
            <a:srgbClr val="132225"/>
          </a:solidFill>
          <a:ln/>
          <a:effectLst>
            <a:outerShdw sx="100000" sy="100000" kx="0" ky="0" algn="bl" rotWithShape="0" blurRad="101600" dist="38100" dir="2700000">
              <a:srgbClr val="13454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4767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14984" y="194767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52728" y="194767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1874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8A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fcfs.py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75895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E7F1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processes = [("P1", 0, 5), ("P2", 1, 3), ("P3", 2, 8)]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6E8A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(name, arrival_time, burst_time)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E7F1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E7F1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processes.sort(key=lambda p: p[1])  # FCFS = arrival order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E7F1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= 0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E7F1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total_wait = 0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E7F1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name, arrival, burst in processes: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E7F1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start = max(time, arrival)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E7F1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wait = start - arrival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E7F1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 = start + burst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E7F1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total_wait += wait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E7F1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print(f"{name}: start={start} wait={wait} completion={time}")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E7F1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E7F1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print("Average waiting time:", total_wait / len(processes))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481431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QNSPL Training  •  OS  •  Week 2: CPU Scheduling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55280" y="481431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Robin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process gets a fixed time quantum, then is preempted back to the ready queue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and responsive — great for time-sharing/interactive systems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too small → excessive context-switch overhead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too large → degenerates into FCFS behavior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quantum of ~10-100ms is typical in practice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481431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QNSPL Training  •  OS  •  Week 2: CPU Scheduling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481431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Scheduling &amp; Starvation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process gets a priority number; the highest-priority ready process runs next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preemptive or non-preemptive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Starvation: a low-priority process may never run if higher-priority ones keep arriving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Aging: gradually increase a waiting process's priority over time to guarantee it eventually runs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481431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QNSPL Training  •  OS  •  Week 2: CPU Scheduling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481431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Preemptive vs Non-Preemptive Scheduling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D3A62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34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Non-Preemptive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931920" cy="2606040"/>
          </a:xfrm>
          <a:prstGeom prst="roundRect">
            <a:avLst>
              <a:gd name="adj" fmla="val 2807"/>
            </a:avLst>
          </a:prstGeom>
          <a:solidFill>
            <a:srgbClr val="EEF4F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process keeps CPU until it finishes or blocks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FCFS, non-preemptive SJF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Simpler, no context-switch mid-burst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13454A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114300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Preemptive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4663440" y="1828800"/>
            <a:ext cx="3931920" cy="2606040"/>
          </a:xfrm>
          <a:prstGeom prst="roundRect">
            <a:avLst>
              <a:gd name="adj" fmla="val 2807"/>
            </a:avLst>
          </a:prstGeom>
          <a:solidFill>
            <a:srgbClr val="EEF4F4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201168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can forcibly take CPU away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SRTF, Round Robin, preemptive Priority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responsiveness, more switching overhead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481431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QNSPL Training  •  OS  •  Week 2: CPU Scheduling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55280" y="481431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Scheduling Interview Traps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SJF is optimal for average waiting time only among non-preemptive algorithms with known burst times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Robin's fairness comes at the cost of higher average turnaround time vs SJF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'Preemptive' and 'faster' are not the same thing — preemption adds context-switch overhead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Starvation is a liveness problem, not a correctness problem — the process would eventually finish if it ever got the CPU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481431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QNSPL Training  •  OS  •  Week 2: CPU Scheduling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481431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8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OF 11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Week's Deliverable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749040" cy="2103120"/>
          </a:xfrm>
          <a:prstGeom prst="roundRect">
            <a:avLst>
              <a:gd name="adj" fmla="val 3478"/>
            </a:avLst>
          </a:prstGeom>
          <a:solidFill>
            <a:srgbClr val="13454A"/>
          </a:solidFill>
          <a:ln/>
          <a:effectLst>
            <a:outerShdw sx="100000" sy="100000" kx="0" ky="0" algn="bl" rotWithShape="0" blurRad="101600" dist="38100" dir="2700000">
              <a:srgbClr val="13454A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A9C7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ACTIVITY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77240" y="2176272"/>
            <a:ext cx="3291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D3A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5 scheduling numericals live: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D3A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FCFS, SJF, RR, Priority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26280" y="1691640"/>
            <a:ext cx="4069080" cy="2103120"/>
          </a:xfrm>
          <a:prstGeom prst="roundRect">
            <a:avLst>
              <a:gd name="adj" fmla="val 3478"/>
            </a:avLst>
          </a:prstGeom>
          <a:solidFill>
            <a:srgbClr val="EEF4F4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8288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A8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54880" y="2176272"/>
            <a:ext cx="3611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test this week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reviewed in-class, feeds the Selection Scorecard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with the waiting/turnaround formulas memorized — you'll use them cold.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481431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QNSPL Training  •  OS  •  Week 2: CPU Scheduling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55280" y="481431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45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3A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2: CPU Scheduling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609344"/>
            <a:ext cx="365760" cy="365760"/>
          </a:xfrm>
          <a:prstGeom prst="ellipse">
            <a:avLst/>
          </a:prstGeom>
          <a:solidFill>
            <a:srgbClr val="D3A62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9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554480"/>
            <a:ext cx="73152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FCFS is simple but suffers from the convoy effect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365760" cy="365760"/>
          </a:xfrm>
          <a:prstGeom prst="ellipse">
            <a:avLst/>
          </a:prstGeom>
          <a:solidFill>
            <a:srgbClr val="D3A62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093976"/>
            <a:ext cx="73152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SJF/SRTF minimizes average waiting time but needs burst-time knowledge and can starve long jobs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688336"/>
            <a:ext cx="365760" cy="365760"/>
          </a:xfrm>
          <a:prstGeom prst="ellipse">
            <a:avLst/>
          </a:prstGeom>
          <a:solidFill>
            <a:srgbClr val="D3A62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88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2633472"/>
            <a:ext cx="73152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Robin trades some efficiency for fairness and responsiveness via a fixed time quantum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227832"/>
            <a:ext cx="365760" cy="365760"/>
          </a:xfrm>
          <a:prstGeom prst="ellipse">
            <a:avLst/>
          </a:prstGeom>
          <a:solidFill>
            <a:srgbClr val="D3A62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172968"/>
            <a:ext cx="73152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scheduling needs aging to prevent starvation of low-priority processes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767328"/>
            <a:ext cx="365760" cy="365760"/>
          </a:xfrm>
          <a:prstGeom prst="ellipse">
            <a:avLst/>
          </a:prstGeom>
          <a:solidFill>
            <a:srgbClr val="D3A62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67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3712464"/>
            <a:ext cx="73152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compute waiting time = start − arrival, turnaround = completion − arrival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9C7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Session: Process Synchronization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CPU Scheduling</dc:title>
  <dc:subject>PptxGenJS Presentation</dc:subject>
  <dc:creator>QuantumNique Solutions</dc:creator>
  <cp:lastModifiedBy>QuantumNique Solutions</cp:lastModifiedBy>
  <cp:revision>1</cp:revision>
  <dcterms:created xsi:type="dcterms:W3CDTF">2026-08-20T18:29:25Z</dcterms:created>
  <dcterms:modified xsi:type="dcterms:W3CDTF">2026-08-20T18:29:25Z</dcterms:modified>
</cp:coreProperties>
</file>